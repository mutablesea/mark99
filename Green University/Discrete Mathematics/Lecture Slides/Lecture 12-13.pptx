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00" r:id="rId43"/>
  </p:sldIdLst>
  <p:sldSz cx="9144000" cy="5143500" type="screen16x9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g/kLBP6kka8nx2vQwChuPcC5dD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FCF6F0-BC37-40CA-BBF4-FED014D25D6A}">
  <a:tblStyle styleId="{44FCF6F0-BC37-40CA-BBF4-FED014D25D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3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56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/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51" name="Google Shape;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/>
          </a:p>
        </p:txBody>
      </p:sp>
      <p:sp>
        <p:nvSpPr>
          <p:cNvPr id="70" name="Google Shape;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1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/>
          </a:p>
        </p:txBody>
      </p:sp>
      <p:sp>
        <p:nvSpPr>
          <p:cNvPr id="77" name="Google Shape;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/>
          </a:p>
        </p:txBody>
      </p:sp>
      <p:sp>
        <p:nvSpPr>
          <p:cNvPr id="84" name="Google Shape;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/>
          </a:p>
        </p:txBody>
      </p:sp>
      <p:sp>
        <p:nvSpPr>
          <p:cNvPr id="93" name="Google Shape;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/>
          </a:p>
        </p:txBody>
      </p:sp>
      <p:sp>
        <p:nvSpPr>
          <p:cNvPr id="102" name="Google Shape;1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/>
          </a:p>
        </p:txBody>
      </p:sp>
      <p:sp>
        <p:nvSpPr>
          <p:cNvPr id="110" name="Google Shape;1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1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/>
          </a:p>
        </p:txBody>
      </p:sp>
      <p:sp>
        <p:nvSpPr>
          <p:cNvPr id="121" name="Google Shape;12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/>
          </a:p>
        </p:txBody>
      </p:sp>
      <p:sp>
        <p:nvSpPr>
          <p:cNvPr id="132" name="Google Shape;1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/>
          </a:p>
        </p:txBody>
      </p:sp>
      <p:sp>
        <p:nvSpPr>
          <p:cNvPr id="143" name="Google Shape;1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/>
          </a:p>
        </p:txBody>
      </p:sp>
      <p:sp>
        <p:nvSpPr>
          <p:cNvPr id="153" name="Google Shape;1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/>
          </a:p>
        </p:txBody>
      </p:sp>
      <p:sp>
        <p:nvSpPr>
          <p:cNvPr id="162" name="Google Shape;1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/>
          </a:p>
        </p:txBody>
      </p:sp>
      <p:sp>
        <p:nvSpPr>
          <p:cNvPr id="180" name="Google Shape;18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3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/>
          </a:p>
        </p:txBody>
      </p:sp>
      <p:sp>
        <p:nvSpPr>
          <p:cNvPr id="189" name="Google Shape;18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3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/>
          </a:p>
        </p:txBody>
      </p:sp>
      <p:sp>
        <p:nvSpPr>
          <p:cNvPr id="198" name="Google Shape;19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3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/>
          </a:p>
        </p:txBody>
      </p:sp>
      <p:sp>
        <p:nvSpPr>
          <p:cNvPr id="207" name="Google Shape;20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3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/>
          </a:p>
        </p:txBody>
      </p:sp>
      <p:sp>
        <p:nvSpPr>
          <p:cNvPr id="216" name="Google Shape;21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3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/>
          </a:p>
        </p:txBody>
      </p:sp>
      <p:sp>
        <p:nvSpPr>
          <p:cNvPr id="228" name="Google Shape;22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3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/>
          </a:p>
        </p:txBody>
      </p:sp>
      <p:sp>
        <p:nvSpPr>
          <p:cNvPr id="236" name="Google Shape;23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3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/>
          </a:p>
        </p:txBody>
      </p:sp>
      <p:sp>
        <p:nvSpPr>
          <p:cNvPr id="244" name="Google Shape;24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4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  <p:sp>
        <p:nvSpPr>
          <p:cNvPr id="252" name="Google Shape;25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4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/>
          </a:p>
        </p:txBody>
      </p:sp>
      <p:sp>
        <p:nvSpPr>
          <p:cNvPr id="261" name="Google Shape;26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4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/>
          </a:p>
        </p:txBody>
      </p:sp>
      <p:sp>
        <p:nvSpPr>
          <p:cNvPr id="270" name="Google Shape;27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4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670294b64_0_4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/>
          </a:p>
        </p:txBody>
      </p:sp>
      <p:sp>
        <p:nvSpPr>
          <p:cNvPr id="279" name="Google Shape;279;ge670294b6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e670294b64_0_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/>
          </a:p>
        </p:txBody>
      </p:sp>
      <p:sp>
        <p:nvSpPr>
          <p:cNvPr id="287" name="Google Shape;28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4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/>
          </a:p>
        </p:txBody>
      </p:sp>
      <p:sp>
        <p:nvSpPr>
          <p:cNvPr id="296" name="Google Shape;29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4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/>
          </a:p>
        </p:txBody>
      </p:sp>
      <p:sp>
        <p:nvSpPr>
          <p:cNvPr id="304" name="Google Shape;30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4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/>
          </a:p>
        </p:txBody>
      </p:sp>
      <p:sp>
        <p:nvSpPr>
          <p:cNvPr id="312" name="Google Shape;31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e9a16e75bd_0_11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/>
          </a:p>
        </p:txBody>
      </p:sp>
      <p:sp>
        <p:nvSpPr>
          <p:cNvPr id="321" name="Google Shape;321;ge9a16e75b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ge9a16e75bd_0_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/>
          </a:p>
        </p:txBody>
      </p:sp>
      <p:sp>
        <p:nvSpPr>
          <p:cNvPr id="330" name="Google Shape;33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/>
          </a:p>
        </p:txBody>
      </p:sp>
      <p:sp>
        <p:nvSpPr>
          <p:cNvPr id="340" name="Google Shape;3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2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/>
          </a:p>
        </p:txBody>
      </p:sp>
      <p:sp>
        <p:nvSpPr>
          <p:cNvPr id="349" name="Google Shape;34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e9a16e75bd_0_20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/>
          </a:p>
        </p:txBody>
      </p:sp>
      <p:sp>
        <p:nvSpPr>
          <p:cNvPr id="356" name="Google Shape;356;ge9a16e75b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ge9a16e75bd_0_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/>
          </a:p>
        </p:txBody>
      </p:sp>
      <p:sp>
        <p:nvSpPr>
          <p:cNvPr id="364" name="Google Shape;36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/>
          </a:p>
        </p:txBody>
      </p:sp>
      <p:sp>
        <p:nvSpPr>
          <p:cNvPr id="375" name="Google Shape;37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3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/>
          </a:p>
        </p:txBody>
      </p:sp>
      <p:sp>
        <p:nvSpPr>
          <p:cNvPr id="383" name="Google Shape;38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3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/>
          </a:p>
        </p:txBody>
      </p:sp>
      <p:sp>
        <p:nvSpPr>
          <p:cNvPr id="393" name="Google Shape;39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3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e6426e02c0_0_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e6426e02c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9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/>
        </p:nvSpPr>
        <p:spPr>
          <a:xfrm>
            <a:off x="0" y="994172"/>
            <a:ext cx="9144000" cy="34500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8"/>
          <p:cNvSpPr txBox="1"/>
          <p:nvPr/>
        </p:nvSpPr>
        <p:spPr>
          <a:xfrm>
            <a:off x="8610600" y="4800600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" name="Google Shape;12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48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457200" y="1200150"/>
            <a:ext cx="82296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Graphs and graph theory can be used to model: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Computer networks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Social networks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Communications networks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Information networks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Software design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Transportation networks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Biological networks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 </a:t>
            </a:r>
            <a:endParaRPr/>
          </a:p>
        </p:txBody>
      </p:sp>
      <p:sp>
        <p:nvSpPr>
          <p:cNvPr id="38" name="Google Shape;38;p3"/>
          <p:cNvSpPr txBox="1"/>
          <p:nvPr/>
        </p:nvSpPr>
        <p:spPr>
          <a:xfrm>
            <a:off x="381000" y="1314450"/>
            <a:ext cx="8001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 = (V, E)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 of a </a:t>
            </a:r>
            <a:r>
              <a:rPr lang="en-US" sz="2400" b="0" i="1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nonempty set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 of vertices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 nodes) and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set E of edges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Each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either one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two vertices associated with it, called its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endpoints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An edge is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said to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 its endpoints.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pic>
        <p:nvPicPr>
          <p:cNvPr id="39" name="Google Shape;3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1450" y="3288400"/>
            <a:ext cx="2235994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Terminology</a:t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381000" y="1085850"/>
            <a:ext cx="80010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lang="en-US" sz="22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simple graph 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2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connects two different vertices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2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two edges connect the same pair 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vertices.</a:t>
            </a: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Multigraphs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have </a:t>
            </a:r>
            <a:r>
              <a:rPr lang="en-US" sz="22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 edges connecting the same two </a:t>
            </a:r>
            <a:r>
              <a:rPr lang="en-US" sz="22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When 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different edges connect the vertices u and v, we 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 that {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u,v} is an edge of multiplicity m. </a:t>
            </a: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An edge that connects a </a:t>
            </a:r>
            <a:r>
              <a:rPr lang="en-US" sz="22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to itself 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called a </a:t>
            </a:r>
            <a:r>
              <a:rPr lang="en-US" sz="22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</a:t>
            </a:r>
            <a:r>
              <a:rPr lang="en-US" sz="22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pseudograph</a:t>
            </a:r>
            <a:r>
              <a:rPr lang="en-US" sz="2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include loops, as well as multiple edges </a:t>
            </a:r>
            <a:r>
              <a:rPr lang="en-US" sz="2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connecting the same pair of vertices.</a:t>
            </a:r>
            <a:endParaRPr sz="2200"/>
          </a:p>
        </p:txBody>
      </p:sp>
      <p:pic>
        <p:nvPicPr>
          <p:cNvPr id="47" name="Google Shape;4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3775" y="1535225"/>
            <a:ext cx="800100" cy="470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4912" y="3248944"/>
            <a:ext cx="1248965" cy="754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381000" y="1085850"/>
            <a:ext cx="80010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directed graph (or digraph)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 = (V, E)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 of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nonempty set V of vertices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 nodes) and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set E of directed edges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 arcs). Each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associated with an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ordered pair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 vertices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directed edge associated with the ordered pair (u,v) is said to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start at u and end at v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Remark: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Graphs where the </a:t>
            </a:r>
            <a:r>
              <a:rPr lang="en-US" sz="2000">
                <a:solidFill>
                  <a:schemeClr val="dk1"/>
                </a:solidFill>
              </a:rPr>
              <a:t>endpoints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an edge are not ordered are said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be undirected graphs.</a:t>
            </a:r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2375" y="2507682"/>
            <a:ext cx="2701275" cy="14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381000" y="1085850"/>
            <a:ext cx="66348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simple directed graph has no loops and no multiple edges.</a:t>
            </a:r>
            <a:endParaRPr sz="23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directed multigraph may have multiple directed edges.</a:t>
            </a:r>
            <a:r>
              <a:rPr lang="en-US" sz="2300"/>
              <a:t>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there are </a:t>
            </a:r>
            <a:r>
              <a:rPr lang="en-US" sz="23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directed edges from the vertex u to the</a:t>
            </a:r>
            <a:r>
              <a:rPr lang="en-US" sz="2300"/>
              <a:t> </a:t>
            </a:r>
            <a:r>
              <a:rPr lang="en-US" sz="23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v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we say that </a:t>
            </a:r>
            <a:r>
              <a:rPr lang="en-US" sz="23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(u,v) 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edge of multiplicity </a:t>
            </a:r>
            <a:r>
              <a:rPr lang="en-US" sz="23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3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23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multiplicity of (</a:t>
            </a:r>
            <a:r>
              <a:rPr lang="en-US" sz="23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?</a:t>
            </a:r>
            <a:endParaRPr sz="23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and the multiplicity of (</a:t>
            </a:r>
            <a:r>
              <a:rPr lang="en-US" sz="23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b,c</a:t>
            </a:r>
            <a:r>
              <a:rPr lang="en-US" sz="23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?</a:t>
            </a:r>
            <a:endParaRPr sz="2300"/>
          </a:p>
        </p:txBody>
      </p:sp>
      <p:pic>
        <p:nvPicPr>
          <p:cNvPr id="64" name="Google Shape;6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0650" y="1325125"/>
            <a:ext cx="1728788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9875" y="3460650"/>
            <a:ext cx="18669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/>
        </p:nvSpPr>
        <p:spPr>
          <a:xfrm>
            <a:off x="3685550" y="3885375"/>
            <a:ext cx="46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4632713" y="4203450"/>
            <a:ext cx="46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381000" y="1085850"/>
            <a:ext cx="82296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directed graph G = (V, E) consists of V,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nonempty set of vertices (or nodes), and E, a set of directed edges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arcs. Each edge is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 ordered pair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vertices. The directed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(u,v) is said to start at u and end at v.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Let (u,v) be an edge in G. Then u is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initial vertex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this edge and is adjacent to v and v is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terminal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end)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this edge and is adjacent from u.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initial and terminal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 of a loop are the same.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81" name="Google Shape;81;p8"/>
          <p:cNvSpPr txBox="1"/>
          <p:nvPr/>
        </p:nvSpPr>
        <p:spPr>
          <a:xfrm>
            <a:off x="222025" y="1085850"/>
            <a:ext cx="8562600" cy="4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1.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 u, v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 undirected graph G are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neighbors) in G if there is an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u and v. Such an edge e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called </a:t>
            </a:r>
            <a:r>
              <a:rPr lang="en-US" sz="2000" b="1" i="0" u="none">
                <a:solidFill>
                  <a:schemeClr val="dk1"/>
                </a:solidFill>
              </a:rPr>
              <a:t>incident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the vertices u and v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e is said to connect u and v.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2.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 of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 neighbors of a vertex v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G = (V, E),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denoted by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N(v)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called the neighborhood of v. If A is a subset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V, we denote by N(A) the set of all vertices in G that are adjacent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at least one vertex in A.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3.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degree of a vertex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undirected graph is the</a:t>
            </a:r>
            <a:r>
              <a:rPr lang="en-US"/>
              <a:t>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incident with it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except that a loop at a vertex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contributes two to the degree of that vertex. The degree of the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v is denoted by deg(v).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88" name="Google Shape;88;p9"/>
          <p:cNvSpPr txBox="1"/>
          <p:nvPr/>
        </p:nvSpPr>
        <p:spPr>
          <a:xfrm>
            <a:off x="381000" y="1085850"/>
            <a:ext cx="8229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What are the degrees and neighborhoods of the vertices in the graphs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G?</a:t>
            </a:r>
            <a:endParaRPr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2550" y="2096050"/>
            <a:ext cx="2607469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 txBox="1"/>
          <p:nvPr/>
        </p:nvSpPr>
        <p:spPr>
          <a:xfrm>
            <a:off x="449800" y="1849750"/>
            <a:ext cx="83820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G: deg(a) =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deg(b) = deg(c) = deg(f ) =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deg(d ) =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e) =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deg(g) =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N(a) = {b, f }, N(b) = {a, c, e, f }, N(c) = {b, d, e, f },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N(d) = {c}, N(e) = {b, c , f }, N(f) = {a, b, c, e}, N(g) =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381000" y="1085850"/>
            <a:ext cx="8229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What are the degrees and neighborhoods of the vertices in the graphs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H?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381000" y="3044175"/>
            <a:ext cx="83820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H: deg(a) = </a:t>
            </a:r>
            <a:r>
              <a:rPr lang="en-US" sz="2400" i="1">
                <a:solidFill>
                  <a:schemeClr val="dk1"/>
                </a:solidFill>
              </a:rPr>
              <a:t>4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deg(b) = deg(e) = 6, deg(c) = 1, deg(d) = 5.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N(a) = {b, d, e}, N(b) = {a, b, c, d, e}, N(c) = {b},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N(d) = {a, b, e}, N(e) = {a, b ,d}.</a:t>
            </a:r>
            <a:endParaRPr/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1725" y="1569675"/>
            <a:ext cx="3131075" cy="17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106" name="Google Shape;106;p11"/>
          <p:cNvSpPr txBox="1"/>
          <p:nvPr/>
        </p:nvSpPr>
        <p:spPr>
          <a:xfrm>
            <a:off x="381000" y="1085850"/>
            <a:ext cx="82296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Theorem 1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If G = (V,E) is an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undirected graph with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edges, then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contributes twice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the degree count of all vertices.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both the left-hand and right-hand sides of this equation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equal twice the number of edges.</a:t>
            </a: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6600" y="1714500"/>
            <a:ext cx="1447800" cy="51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114" name="Google Shape;114;p12"/>
          <p:cNvSpPr txBox="1"/>
          <p:nvPr/>
        </p:nvSpPr>
        <p:spPr>
          <a:xfrm>
            <a:off x="381000" y="1085850"/>
            <a:ext cx="8229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</a:rPr>
              <a:t>Theorem 2: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undirected graph has an even number of vertices of odd degree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 Let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the vertices of even degree and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the vertices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odd degree in an undirected graph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(V, E) with m edges.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/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50" y="3038400"/>
            <a:ext cx="3638548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 txBox="1"/>
          <p:nvPr/>
        </p:nvSpPr>
        <p:spPr>
          <a:xfrm>
            <a:off x="3551800" y="3676200"/>
            <a:ext cx="1143000" cy="1015800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since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</a:t>
            </a:r>
            <a:r>
              <a:rPr lang="en-US" sz="1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v) 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for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1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∈ V</a:t>
            </a:r>
            <a:r>
              <a:rPr lang="en-US" sz="12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953000" y="3543300"/>
            <a:ext cx="3124200" cy="1385400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sum must be even because 2</a:t>
            </a:r>
            <a:r>
              <a:rPr lang="en-US" sz="12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even and the sum of the degrees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vertices of even degrees 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even. Because this is the 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degrees of all vertices of odd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 in the graph, there must be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even number of such vertices.</a:t>
            </a:r>
            <a:endParaRPr/>
          </a:p>
        </p:txBody>
      </p:sp>
      <p:pic>
        <p:nvPicPr>
          <p:cNvPr id="118" name="Google Shape;11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057650"/>
            <a:ext cx="2607469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81000" y="1085850"/>
            <a:ext cx="85368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in-degree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 vertex v, denoted deg</a:t>
            </a:r>
            <a:r>
              <a:rPr lang="en-US" sz="20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(v), is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which terminate at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out-degree of v,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denoted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0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(v),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with v as their initial</a:t>
            </a:r>
            <a:r>
              <a:rPr lang="en-US"/>
              <a:t>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Note that a loop at a vertex contributes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indegree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out-degree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vertex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000" b="0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graph G</a:t>
            </a:r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825" y="2871450"/>
            <a:ext cx="3657600" cy="21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3905650" y="2888088"/>
            <a:ext cx="5105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4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(a)=2, deg</a:t>
            </a:r>
            <a:r>
              <a:rPr lang="en-US" sz="24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(b)=2, deg</a:t>
            </a:r>
            <a:r>
              <a:rPr lang="en-US" sz="24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(c)=</a:t>
            </a:r>
            <a:r>
              <a:rPr lang="en-US" sz="2400" i="1">
                <a:solidFill>
                  <a:schemeClr val="dk1"/>
                </a:solidFill>
              </a:rPr>
              <a:t>3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      </a:t>
            </a: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905650" y="3929750"/>
            <a:ext cx="483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1">
                <a:solidFill>
                  <a:schemeClr val="dk1"/>
                </a:solidFill>
              </a:rPr>
              <a:t> deg</a:t>
            </a:r>
            <a:r>
              <a:rPr lang="en-US" sz="2400" i="1" baseline="30000">
                <a:solidFill>
                  <a:srgbClr val="FF0000"/>
                </a:solidFill>
              </a:rPr>
              <a:t>-</a:t>
            </a:r>
            <a:r>
              <a:rPr lang="en-US" sz="2400" i="1">
                <a:solidFill>
                  <a:schemeClr val="dk1"/>
                </a:solidFill>
              </a:rPr>
              <a:t> (d)=</a:t>
            </a:r>
            <a:r>
              <a:rPr lang="en-US" sz="2400" i="1">
                <a:solidFill>
                  <a:srgbClr val="FF0000"/>
                </a:solidFill>
              </a:rPr>
              <a:t>2</a:t>
            </a:r>
            <a:r>
              <a:rPr lang="en-US" sz="2400" i="1">
                <a:solidFill>
                  <a:schemeClr val="dk1"/>
                </a:solidFill>
              </a:rPr>
              <a:t>, deg</a:t>
            </a:r>
            <a:r>
              <a:rPr lang="en-US" sz="2400" i="1" baseline="30000">
                <a:solidFill>
                  <a:srgbClr val="FF0000"/>
                </a:solidFill>
              </a:rPr>
              <a:t>-</a:t>
            </a:r>
            <a:r>
              <a:rPr lang="en-US" sz="2400" i="1">
                <a:solidFill>
                  <a:schemeClr val="dk1"/>
                </a:solidFill>
              </a:rPr>
              <a:t> (e)=</a:t>
            </a:r>
            <a:r>
              <a:rPr lang="en-US" sz="2400" i="1">
                <a:solidFill>
                  <a:srgbClr val="FF0000"/>
                </a:solidFill>
              </a:rPr>
              <a:t>3</a:t>
            </a:r>
            <a:r>
              <a:rPr lang="en-US" sz="2400" i="1">
                <a:solidFill>
                  <a:schemeClr val="dk1"/>
                </a:solidFill>
              </a:rPr>
              <a:t>, deg</a:t>
            </a:r>
            <a:r>
              <a:rPr lang="en-US" sz="2400" i="1" baseline="30000">
                <a:solidFill>
                  <a:srgbClr val="FF0000"/>
                </a:solidFill>
              </a:rPr>
              <a:t>-</a:t>
            </a:r>
            <a:r>
              <a:rPr lang="en-US" sz="2400" i="1">
                <a:solidFill>
                  <a:schemeClr val="dk1"/>
                </a:solidFill>
              </a:rPr>
              <a:t> (f)=</a:t>
            </a:r>
            <a:r>
              <a:rPr lang="en-US" sz="2400" i="1">
                <a:solidFill>
                  <a:srgbClr val="FF0000"/>
                </a:solidFill>
              </a:rPr>
              <a:t>0</a:t>
            </a:r>
            <a:r>
              <a:rPr lang="en-US" sz="2400" i="1">
                <a:solidFill>
                  <a:schemeClr val="dk1"/>
                </a:solidFill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381000" y="1085850"/>
            <a:ext cx="82296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in-degree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 vertex v, denoted deg</a:t>
            </a:r>
            <a:r>
              <a:rPr lang="en-US" sz="20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(v), is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which terminate at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out-degree of v,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denoted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0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(v),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with v as their initial</a:t>
            </a:r>
            <a:r>
              <a:rPr lang="en-US"/>
              <a:t>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Note that a loop at a vertex contributes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indegree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out-degree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vertex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graph G</a:t>
            </a:r>
            <a:endParaRPr/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00" y="3157775"/>
            <a:ext cx="3027618" cy="19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839075" y="3299394"/>
            <a:ext cx="510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4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(a)=4, deg</a:t>
            </a:r>
            <a:r>
              <a:rPr lang="en-US" sz="24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(b)=1, deg</a:t>
            </a:r>
            <a:r>
              <a:rPr lang="en-US" sz="2400" b="0" i="1" u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(c)=2,             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3766975" y="4026000"/>
            <a:ext cx="488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i="1">
                <a:solidFill>
                  <a:schemeClr val="dk1"/>
                </a:solidFill>
              </a:rPr>
              <a:t> deg</a:t>
            </a:r>
            <a:r>
              <a:rPr lang="en-US" sz="2400" i="1" baseline="30000">
                <a:solidFill>
                  <a:srgbClr val="FF0000"/>
                </a:solidFill>
              </a:rPr>
              <a:t>+</a:t>
            </a:r>
            <a:r>
              <a:rPr lang="en-US" sz="2400" i="1">
                <a:solidFill>
                  <a:schemeClr val="dk1"/>
                </a:solidFill>
              </a:rPr>
              <a:t> (d)=</a:t>
            </a:r>
            <a:r>
              <a:rPr lang="en-US" sz="2400" i="1">
                <a:solidFill>
                  <a:srgbClr val="FF0000"/>
                </a:solidFill>
              </a:rPr>
              <a:t>2</a:t>
            </a:r>
            <a:r>
              <a:rPr lang="en-US" sz="2400" i="1">
                <a:solidFill>
                  <a:schemeClr val="dk1"/>
                </a:solidFill>
              </a:rPr>
              <a:t>, deg</a:t>
            </a:r>
            <a:r>
              <a:rPr lang="en-US" sz="2400" i="1" baseline="30000">
                <a:solidFill>
                  <a:srgbClr val="FF0000"/>
                </a:solidFill>
              </a:rPr>
              <a:t>+</a:t>
            </a:r>
            <a:r>
              <a:rPr lang="en-US" sz="2400" i="1">
                <a:solidFill>
                  <a:schemeClr val="dk1"/>
                </a:solidFill>
              </a:rPr>
              <a:t> (e)=</a:t>
            </a:r>
            <a:r>
              <a:rPr lang="en-US" sz="2400" i="1">
                <a:solidFill>
                  <a:srgbClr val="FF0000"/>
                </a:solidFill>
              </a:rPr>
              <a:t>3</a:t>
            </a:r>
            <a:r>
              <a:rPr lang="en-US" sz="2400" i="1">
                <a:solidFill>
                  <a:schemeClr val="dk1"/>
                </a:solidFill>
              </a:rPr>
              <a:t>, deg</a:t>
            </a:r>
            <a:r>
              <a:rPr lang="en-US" sz="2400" i="1" baseline="30000">
                <a:solidFill>
                  <a:srgbClr val="FF0000"/>
                </a:solidFill>
              </a:rPr>
              <a:t>+</a:t>
            </a:r>
            <a:r>
              <a:rPr lang="en-US" sz="2400" i="1">
                <a:solidFill>
                  <a:schemeClr val="dk1"/>
                </a:solidFill>
              </a:rPr>
              <a:t> (f)=</a:t>
            </a:r>
            <a:r>
              <a:rPr lang="en-US" sz="2400" i="1">
                <a:solidFill>
                  <a:srgbClr val="FF0000"/>
                </a:solidFill>
              </a:rPr>
              <a:t>0</a:t>
            </a:r>
            <a:r>
              <a:rPr lang="en-US" sz="2400" i="1">
                <a:solidFill>
                  <a:schemeClr val="dk1"/>
                </a:solidFill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381000" y="1085850"/>
            <a:ext cx="82296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Theorem: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Let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(V, E) be a graph with directed edges. Then: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first sum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counts the number of outgoing edges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all vertices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second sum counts the number of incoming edges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all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vertices. It follows that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 sums equal the number of edges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7200" y="1733550"/>
            <a:ext cx="27622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24175" y="1809875"/>
            <a:ext cx="17430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Complete graph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3810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complete graph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n vertices, denoted by K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the simple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that contains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exactly one edge between each pair of distinct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400300"/>
            <a:ext cx="6361509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Cycle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381000" y="1085850"/>
            <a:ext cx="8229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 ≥ 3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 of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vertices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,⋯ ,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edges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}, {v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,⋯ , {v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}, {v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}.</a:t>
            </a: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00300"/>
            <a:ext cx="5606653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Representation: Adjacency List</a:t>
            </a:r>
            <a:endParaRPr/>
          </a:p>
        </p:txBody>
      </p:sp>
      <p:sp>
        <p:nvSpPr>
          <p:cNvPr id="184" name="Google Shape;184;p31"/>
          <p:cNvSpPr txBox="1"/>
          <p:nvPr/>
        </p:nvSpPr>
        <p:spPr>
          <a:xfrm>
            <a:off x="304800" y="1085850"/>
            <a:ext cx="8229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adjacency list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to represent a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 with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multiple edges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specifying the vertices that are adjacent to each vertex of the graph.</a:t>
            </a: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800" y="2655750"/>
            <a:ext cx="2779900" cy="2333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" name="Google Shape;186;p31"/>
          <p:cNvGraphicFramePr/>
          <p:nvPr/>
        </p:nvGraphicFramePr>
        <p:xfrm>
          <a:off x="3778475" y="2571750"/>
          <a:ext cx="4568575" cy="2525075"/>
        </p:xfrm>
        <a:graphic>
          <a:graphicData uri="http://schemas.openxmlformats.org/drawingml/2006/table">
            <a:tbl>
              <a:tblPr>
                <a:noFill/>
                <a:tableStyleId>{44FCF6F0-BC37-40CA-BBF4-FED014D25D6A}</a:tableStyleId>
              </a:tblPr>
              <a:tblGrid>
                <a:gridCol w="11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7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adjacency list for a simple graph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vertex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Adjacent vertex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c, e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d, e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c, e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c, d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Representation: Adjacency List</a:t>
            </a:r>
            <a:endParaRPr/>
          </a:p>
        </p:txBody>
      </p:sp>
      <p:sp>
        <p:nvSpPr>
          <p:cNvPr id="193" name="Google Shape;193;p32"/>
          <p:cNvSpPr txBox="1"/>
          <p:nvPr/>
        </p:nvSpPr>
        <p:spPr>
          <a:xfrm>
            <a:off x="304800" y="1085850"/>
            <a:ext cx="82296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adjacency list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to represent a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 with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multiple edges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specifying the vertices that are adjacent to each vertex of the graph.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graphicFrame>
        <p:nvGraphicFramePr>
          <p:cNvPr id="194" name="Google Shape;194;p32"/>
          <p:cNvGraphicFramePr/>
          <p:nvPr/>
        </p:nvGraphicFramePr>
        <p:xfrm>
          <a:off x="3956075" y="2463200"/>
          <a:ext cx="4427975" cy="2591750"/>
        </p:xfrm>
        <a:graphic>
          <a:graphicData uri="http://schemas.openxmlformats.org/drawingml/2006/table">
            <a:tbl>
              <a:tblPr>
                <a:noFill/>
                <a:tableStyleId>{44FCF6F0-BC37-40CA-BBF4-FED014D25D6A}</a:tableStyleId>
              </a:tblPr>
              <a:tblGrid>
                <a:gridCol w="110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adjacency list for a directed graph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vertex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Adjacent vertex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c, d, e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d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c, e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c, d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95" name="Google Shape;19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225" y="2407300"/>
            <a:ext cx="3425150" cy="25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/>
          </a:p>
        </p:txBody>
      </p:sp>
      <p:sp>
        <p:nvSpPr>
          <p:cNvPr id="202" name="Google Shape;202;p33"/>
          <p:cNvSpPr txBox="1"/>
          <p:nvPr/>
        </p:nvSpPr>
        <p:spPr>
          <a:xfrm>
            <a:off x="304800" y="1085850"/>
            <a:ext cx="8531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Suppose that G = (V, E) is a simple graph where |V| = n. Arbitrarily list the vertices of G as v</a:t>
            </a:r>
            <a:r>
              <a:rPr lang="en-US" sz="21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1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 , v</a:t>
            </a:r>
            <a:r>
              <a:rPr lang="en-US" sz="21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adjacency matrix A</a:t>
            </a:r>
            <a:r>
              <a:rPr lang="en-US" sz="21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G, with respect to the listing of vertices, is the n × n zero-one matrix with </a:t>
            </a: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its </a:t>
            </a: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(i, j)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entry when </a:t>
            </a: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100" b="0" i="0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1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1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adjacent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its </a:t>
            </a: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(i, j)</a:t>
            </a:r>
            <a:r>
              <a:rPr lang="en-US" sz="21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entry when they are not adjacent.</a:t>
            </a:r>
            <a:endParaRPr sz="2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1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100"/>
          </a:p>
        </p:txBody>
      </p:sp>
      <p:pic>
        <p:nvPicPr>
          <p:cNvPr id="203" name="Google Shape;20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1250" y="2948600"/>
            <a:ext cx="2443578" cy="20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1325" y="2571750"/>
            <a:ext cx="2375651" cy="240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/>
          </a:p>
        </p:txBody>
      </p:sp>
      <p:sp>
        <p:nvSpPr>
          <p:cNvPr id="211" name="Google Shape;211;p34"/>
          <p:cNvSpPr txBox="1"/>
          <p:nvPr/>
        </p:nvSpPr>
        <p:spPr>
          <a:xfrm>
            <a:off x="3048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matrices can also be used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 represent graphs with loops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multiple edges.</a:t>
            </a: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adjacency matrix of the pseudograph shown here using the ordering of vertices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b, c, d.</a:t>
            </a:r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7343" y="2409450"/>
            <a:ext cx="2512975" cy="25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50" y="2409450"/>
            <a:ext cx="3341025" cy="25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/>
          </a:p>
        </p:txBody>
      </p:sp>
      <p:sp>
        <p:nvSpPr>
          <p:cNvPr id="220" name="Google Shape;220;p37"/>
          <p:cNvSpPr txBox="1"/>
          <p:nvPr/>
        </p:nvSpPr>
        <p:spPr>
          <a:xfrm>
            <a:off x="304800" y="1085850"/>
            <a:ext cx="861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is a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connected undirected graph with no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simple circuits</a:t>
            </a: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pic>
        <p:nvPicPr>
          <p:cNvPr id="221" name="Google Shape;221;p37"/>
          <p:cNvPicPr preferRelativeResize="0"/>
          <p:nvPr/>
        </p:nvPicPr>
        <p:blipFill rotWithShape="1">
          <a:blip r:embed="rId3">
            <a:alphaModFix/>
          </a:blip>
          <a:srcRect b="23283"/>
          <a:stretch/>
        </p:blipFill>
        <p:spPr>
          <a:xfrm>
            <a:off x="1919800" y="1599950"/>
            <a:ext cx="6596000" cy="263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7"/>
          <p:cNvSpPr txBox="1"/>
          <p:nvPr/>
        </p:nvSpPr>
        <p:spPr>
          <a:xfrm>
            <a:off x="2405250" y="4370125"/>
            <a:ext cx="806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7"/>
          <p:cNvSpPr txBox="1"/>
          <p:nvPr/>
        </p:nvSpPr>
        <p:spPr>
          <a:xfrm>
            <a:off x="3907600" y="4370125"/>
            <a:ext cx="806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37"/>
          <p:cNvSpPr txBox="1"/>
          <p:nvPr/>
        </p:nvSpPr>
        <p:spPr>
          <a:xfrm>
            <a:off x="5184875" y="4370125"/>
            <a:ext cx="1461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Not Tree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6682875" y="4370125"/>
            <a:ext cx="1461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Not Tree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/>
          </a:p>
        </p:txBody>
      </p:sp>
      <p:sp>
        <p:nvSpPr>
          <p:cNvPr id="232" name="Google Shape;232;p38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forest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graph that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has no simple circuit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but is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Each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connected components in a forest is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tree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pic>
        <p:nvPicPr>
          <p:cNvPr id="233" name="Google Shape;23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6150" y="1826325"/>
            <a:ext cx="7588029" cy="331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/>
          </a:p>
        </p:txBody>
      </p:sp>
      <p:sp>
        <p:nvSpPr>
          <p:cNvPr id="240" name="Google Shape;240;p39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Theorem: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undirected graph is a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tree if and only if there is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simple path between any two of its vertices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pic>
        <p:nvPicPr>
          <p:cNvPr id="241" name="Google Shape;24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925" y="1834975"/>
            <a:ext cx="5779921" cy="33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</a:t>
            </a:r>
            <a:endParaRPr/>
          </a:p>
        </p:txBody>
      </p:sp>
      <p:sp>
        <p:nvSpPr>
          <p:cNvPr id="248" name="Google Shape;248;p40"/>
          <p:cNvSpPr txBox="1"/>
          <p:nvPr/>
        </p:nvSpPr>
        <p:spPr>
          <a:xfrm>
            <a:off x="304800" y="1085850"/>
            <a:ext cx="86106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rooted tree is a tree in which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vertex has been</a:t>
            </a:r>
            <a:r>
              <a:rPr lang="en-US"/>
              <a:t>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designated as 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root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every edge is directed away from the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unrooted tree can be converted into different rooted trees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one of the vertices is chosen as the root.</a:t>
            </a:r>
            <a:endParaRPr/>
          </a:p>
        </p:txBody>
      </p:sp>
      <p:pic>
        <p:nvPicPr>
          <p:cNvPr id="249" name="Google Shape;24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475" y="2717550"/>
            <a:ext cx="6980666" cy="24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56" name="Google Shape;256;p41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is a vertex of a rooted tree other than the root, the parent of v 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unique vertex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such that there is a directed edge from u to v.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is a parent of v, v is called a child of u. Vertices with the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parent are called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siblings.</a:t>
            </a:r>
            <a:endParaRPr/>
          </a:p>
        </p:txBody>
      </p:sp>
      <p:pic>
        <p:nvPicPr>
          <p:cNvPr id="257" name="Google Shape;25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375" y="2409450"/>
            <a:ext cx="3103731" cy="27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1"/>
          <p:cNvSpPr txBox="1"/>
          <p:nvPr/>
        </p:nvSpPr>
        <p:spPr>
          <a:xfrm>
            <a:off x="4343400" y="2800350"/>
            <a:ext cx="2667000" cy="1200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 of g: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Children of g: h,i,j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Sibling: b, f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65" name="Google Shape;265;p42"/>
          <p:cNvSpPr txBox="1"/>
          <p:nvPr/>
        </p:nvSpPr>
        <p:spPr>
          <a:xfrm>
            <a:off x="222025" y="1085850"/>
            <a:ext cx="8792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ancestors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vertex are the vertices on the path from the root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this vertex, excluding the vertex itself and including the root.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descendants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vertex v are those vertices that have v as an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ancestor.</a:t>
            </a:r>
            <a:endParaRPr/>
          </a:p>
        </p:txBody>
      </p:sp>
      <p:sp>
        <p:nvSpPr>
          <p:cNvPr id="266" name="Google Shape;266;p42"/>
          <p:cNvSpPr txBox="1"/>
          <p:nvPr/>
        </p:nvSpPr>
        <p:spPr>
          <a:xfrm>
            <a:off x="4191000" y="2800350"/>
            <a:ext cx="2667000" cy="831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Ancestor j: g, a  descendant  j: l, m</a:t>
            </a:r>
            <a:endParaRPr/>
          </a:p>
        </p:txBody>
      </p:sp>
      <p:pic>
        <p:nvPicPr>
          <p:cNvPr id="267" name="Google Shape;267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175" y="2134700"/>
            <a:ext cx="3501587" cy="30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74" name="Google Shape;274;p43"/>
          <p:cNvSpPr txBox="1"/>
          <p:nvPr/>
        </p:nvSpPr>
        <p:spPr>
          <a:xfrm>
            <a:off x="304800" y="1085850"/>
            <a:ext cx="861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vertex of a rooted tree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no children is called a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leaf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Vertices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have children are called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vertices.</a:t>
            </a:r>
            <a:endParaRPr/>
          </a:p>
        </p:txBody>
      </p:sp>
      <p:sp>
        <p:nvSpPr>
          <p:cNvPr id="275" name="Google Shape;275;p43"/>
          <p:cNvSpPr txBox="1"/>
          <p:nvPr/>
        </p:nvSpPr>
        <p:spPr>
          <a:xfrm>
            <a:off x="4191000" y="2800350"/>
            <a:ext cx="4953000" cy="1200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Leafs: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d, e, k, l, m, f, i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internal nodes: </a:t>
            </a: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b, g, h, </a:t>
            </a:r>
            <a:r>
              <a:rPr lang="en-US" sz="2400" i="1">
                <a:solidFill>
                  <a:srgbClr val="FF0000"/>
                </a:solidFill>
              </a:rPr>
              <a:t>c, j, a</a:t>
            </a:r>
            <a:endParaRPr/>
          </a:p>
        </p:txBody>
      </p:sp>
      <p:pic>
        <p:nvPicPr>
          <p:cNvPr id="276" name="Google Shape;27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600" y="1826725"/>
            <a:ext cx="3703407" cy="33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e670294b64_0_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83" name="Google Shape;283;ge670294b64_0_4"/>
          <p:cNvSpPr txBox="1"/>
          <p:nvPr/>
        </p:nvSpPr>
        <p:spPr>
          <a:xfrm>
            <a:off x="5972350" y="1094900"/>
            <a:ext cx="2671800" cy="3509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Root is B.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Parent of D: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Children of D: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Siblings of D: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Ancestor D: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Descendant  D: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Leafs: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I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nternal nodes:</a:t>
            </a:r>
            <a:endParaRPr/>
          </a:p>
        </p:txBody>
      </p:sp>
      <p:pic>
        <p:nvPicPr>
          <p:cNvPr id="284" name="Google Shape;284;ge670294b64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75" y="1094900"/>
            <a:ext cx="5820000" cy="40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91" name="Google Shape;291;p44"/>
          <p:cNvSpPr txBox="1"/>
          <p:nvPr/>
        </p:nvSpPr>
        <p:spPr>
          <a:xfrm>
            <a:off x="304800" y="1085850"/>
            <a:ext cx="861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vertex in a tree,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subtree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its root is the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tree consisting of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and its descendants and all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edges incident to these descendants.</a:t>
            </a:r>
            <a:endParaRPr/>
          </a:p>
        </p:txBody>
      </p:sp>
      <p:pic>
        <p:nvPicPr>
          <p:cNvPr id="292" name="Google Shape;29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2057400"/>
            <a:ext cx="2680096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4"/>
          <p:cNvSpPr txBox="1"/>
          <p:nvPr/>
        </p:nvSpPr>
        <p:spPr>
          <a:xfrm>
            <a:off x="4343400" y="2743200"/>
            <a:ext cx="1905000" cy="1714500"/>
          </a:xfrm>
          <a:prstGeom prst="rect">
            <a:avLst/>
          </a:prstGeom>
          <a:noFill/>
          <a:ln w="222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Binary Tree</a:t>
            </a:r>
            <a:endParaRPr/>
          </a:p>
        </p:txBody>
      </p:sp>
      <p:sp>
        <p:nvSpPr>
          <p:cNvPr id="300" name="Google Shape;300;p46"/>
          <p:cNvSpPr txBox="1"/>
          <p:nvPr/>
        </p:nvSpPr>
        <p:spPr>
          <a:xfrm>
            <a:off x="304800" y="1085850"/>
            <a:ext cx="86106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binary tree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ordered rooted where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each internal</a:t>
            </a:r>
            <a:r>
              <a:rPr lang="en-US"/>
              <a:t>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has at most two children.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an internal vertex of a binary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has two children, the first is called 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left child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second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right child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tree rooted at the left child of a vertex is called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left subtree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this vertex, and the tree rooted at the right child</a:t>
            </a:r>
            <a:r>
              <a:rPr lang="en-US"/>
              <a:t>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 vertex is called the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right subtree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this vertex.</a:t>
            </a:r>
            <a:endParaRPr/>
          </a:p>
        </p:txBody>
      </p:sp>
      <p:pic>
        <p:nvPicPr>
          <p:cNvPr id="301" name="Google Shape;30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7413" y="2717550"/>
            <a:ext cx="5845375" cy="232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M-ary Tree</a:t>
            </a:r>
            <a:endParaRPr/>
          </a:p>
        </p:txBody>
      </p:sp>
      <p:sp>
        <p:nvSpPr>
          <p:cNvPr id="308" name="Google Shape;308;p45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rooted tree is called an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m-ary tree if every internal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has no more than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children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tree is called a full m-ary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if every internal vertex has exactly m children.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 m-ary tree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= 2 is called a binary tree.</a:t>
            </a:r>
            <a:endParaRPr/>
          </a:p>
        </p:txBody>
      </p:sp>
      <p:pic>
        <p:nvPicPr>
          <p:cNvPr id="309" name="Google Shape;30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425" y="2452500"/>
            <a:ext cx="8352124" cy="22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3810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A simple graph </a:t>
            </a:r>
            <a:r>
              <a:rPr lang="en-US" sz="2000" b="1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is bipartite if V can be partitioned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disjoint subsets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every edge connects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in 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and a vertex in V</a:t>
            </a:r>
            <a:r>
              <a:rPr lang="en-US" sz="20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In other words, there are no edges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connect two vertices in 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in V</a:t>
            </a:r>
            <a:r>
              <a:rPr lang="en-US" sz="20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313" y="2528150"/>
            <a:ext cx="4093375" cy="24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9a16e75bd_0_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25" name="Google Shape;325;ge9a16e75bd_0_11"/>
          <p:cNvSpPr txBox="1"/>
          <p:nvPr/>
        </p:nvSpPr>
        <p:spPr>
          <a:xfrm>
            <a:off x="3810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</a:rPr>
              <a:t>V1 = {A, C}</a:t>
            </a:r>
            <a:endParaRPr sz="20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</a:rPr>
              <a:t>V2 = {B,D}</a:t>
            </a:r>
            <a:endParaRPr sz="20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>
              <a:solidFill>
                <a:schemeClr val="dk1"/>
              </a:solidFill>
            </a:endParaRPr>
          </a:p>
        </p:txBody>
      </p:sp>
      <p:sp>
        <p:nvSpPr>
          <p:cNvPr id="326" name="Google Shape;326;ge9a16e75bd_0_11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ge9a16e75bd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471" y="2571750"/>
            <a:ext cx="4748655" cy="24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304800" y="10858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that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bipartite.</a:t>
            </a:r>
            <a:endParaRPr/>
          </a:p>
        </p:txBody>
      </p:sp>
      <p:pic>
        <p:nvPicPr>
          <p:cNvPr id="335" name="Google Shape;33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325" y="1820410"/>
            <a:ext cx="2212621" cy="167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4"/>
          <p:cNvSpPr txBox="1"/>
          <p:nvPr/>
        </p:nvSpPr>
        <p:spPr>
          <a:xfrm>
            <a:off x="371475" y="3804050"/>
            <a:ext cx="7848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partition the vertex set into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{v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every edge of C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connects a vertex in 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/>
          </a:p>
        </p:txBody>
      </p:sp>
      <p:pic>
        <p:nvPicPr>
          <p:cNvPr id="337" name="Google Shape;33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5375" y="1840588"/>
            <a:ext cx="3340850" cy="16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304800" y="10858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that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not bipartite.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360775" y="2971800"/>
            <a:ext cx="7848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divide the vertex set of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two nonempty sets,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of the 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must contain two vertices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But in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every vertex is connected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every other vertex. Therefore, the two vertices in the same partition are connected. Hence,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is not bipartite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346" name="Google Shape;34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5925" y="1685925"/>
            <a:ext cx="2032152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Complete Bipartite Graph 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304800" y="1085850"/>
            <a:ext cx="82296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bipartite graph K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m,n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graph that has its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set partitioned into two subsets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size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size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there is an edge from every vertex in 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every vertex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e9a16e75bd_0_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Complete Bipartite Graph </a:t>
            </a:r>
            <a:endParaRPr/>
          </a:p>
        </p:txBody>
      </p:sp>
      <p:sp>
        <p:nvSpPr>
          <p:cNvPr id="360" name="Google Shape;360;ge9a16e75bd_0_20"/>
          <p:cNvSpPr txBox="1"/>
          <p:nvPr/>
        </p:nvSpPr>
        <p:spPr>
          <a:xfrm>
            <a:off x="304800" y="10858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display four complete bipartite graphs here.</a:t>
            </a:r>
            <a:endParaRPr/>
          </a:p>
        </p:txBody>
      </p:sp>
      <p:pic>
        <p:nvPicPr>
          <p:cNvPr id="361" name="Google Shape;361;ge9a16e75bd_0_20"/>
          <p:cNvPicPr preferRelativeResize="0"/>
          <p:nvPr/>
        </p:nvPicPr>
        <p:blipFill rotWithShape="1">
          <a:blip r:embed="rId3">
            <a:alphaModFix/>
          </a:blip>
          <a:srcRect b="9698"/>
          <a:stretch/>
        </p:blipFill>
        <p:spPr>
          <a:xfrm>
            <a:off x="1094250" y="1635675"/>
            <a:ext cx="6650701" cy="32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304800" y="1085850"/>
            <a:ext cx="8503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subgraph of a graph G = (V,E) is a graph</a:t>
            </a:r>
            <a:r>
              <a:rPr lang="en-US" sz="2400" i="1">
                <a:solidFill>
                  <a:schemeClr val="dk1"/>
                </a:solidFill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(W,F),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 ⊂ V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⊂ E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 of G is a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proper</a:t>
            </a:r>
            <a:r>
              <a:rPr lang="en-US" sz="2400" i="1">
                <a:solidFill>
                  <a:srgbClr val="FF0000"/>
                </a:solidFill>
              </a:rPr>
              <a:t>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subgraph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if </a:t>
            </a:r>
            <a:r>
              <a:rPr lang="en-US" sz="24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≠ G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</p:txBody>
      </p:sp>
      <p:pic>
        <p:nvPicPr>
          <p:cNvPr id="369" name="Google Shape;36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000" y="3310425"/>
            <a:ext cx="3618309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8"/>
          <p:cNvSpPr txBox="1"/>
          <p:nvPr/>
        </p:nvSpPr>
        <p:spPr>
          <a:xfrm>
            <a:off x="375050" y="2298275"/>
            <a:ext cx="4736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Example: </a:t>
            </a:r>
            <a:r>
              <a:rPr lang="en-US" sz="2400" i="1">
                <a:solidFill>
                  <a:schemeClr val="dk1"/>
                </a:solidFill>
              </a:rPr>
              <a:t>K</a:t>
            </a:r>
            <a:r>
              <a:rPr lang="en-US" sz="2400" i="1" baseline="-25000">
                <a:solidFill>
                  <a:schemeClr val="dk1"/>
                </a:solidFill>
              </a:rPr>
              <a:t>5 </a:t>
            </a:r>
            <a:r>
              <a:rPr lang="en-US" sz="2400" i="1">
                <a:solidFill>
                  <a:schemeClr val="dk1"/>
                </a:solidFill>
              </a:rPr>
              <a:t>and one of its subgraphs.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4407600" y="2298275"/>
            <a:ext cx="4736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Example: </a:t>
            </a:r>
            <a:r>
              <a:rPr lang="en-US" sz="2400" i="1">
                <a:solidFill>
                  <a:schemeClr val="dk1"/>
                </a:solidFill>
              </a:rPr>
              <a:t>K</a:t>
            </a:r>
            <a:r>
              <a:rPr lang="en-US" sz="2400" i="1" baseline="-25000">
                <a:solidFill>
                  <a:schemeClr val="dk1"/>
                </a:solidFill>
              </a:rPr>
              <a:t>5</a:t>
            </a:r>
            <a:r>
              <a:rPr lang="en-US" sz="2400" i="1">
                <a:solidFill>
                  <a:schemeClr val="dk1"/>
                </a:solidFill>
              </a:rPr>
              <a:t> and the subgraph induced by </a:t>
            </a:r>
            <a:r>
              <a:rPr lang="en-US" sz="2400" i="1">
                <a:solidFill>
                  <a:srgbClr val="FF0000"/>
                </a:solidFill>
              </a:rPr>
              <a:t>W = {a,b,c,e}.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475" y="3281850"/>
            <a:ext cx="3626644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Union of Graph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304800" y="1085850"/>
            <a:ext cx="82296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 of two simple graphs G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G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simple graph with vertex set 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⋃ V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edge set E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⋃ E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union of G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G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denoted by G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⋃ G</a:t>
            </a:r>
            <a:r>
              <a:rPr lang="en-US" sz="24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pic>
        <p:nvPicPr>
          <p:cNvPr id="380" name="Google Shape;38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000" y="3394650"/>
            <a:ext cx="5657849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139300" y="1085850"/>
            <a:ext cx="87549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simple graphs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(V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G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(V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isomorphic if there is a </a:t>
            </a:r>
            <a:r>
              <a:rPr lang="en-US" sz="18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one-to-one and onto function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from V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</a:t>
            </a:r>
            <a:r>
              <a:rPr lang="en-US" sz="1800"/>
              <a:t>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lang="en-US" sz="1800" i="1">
                <a:solidFill>
                  <a:schemeClr val="dk1"/>
                </a:solidFill>
              </a:rPr>
              <a:t>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property </a:t>
            </a:r>
            <a:r>
              <a:rPr lang="en-US" sz="1800" b="0" i="1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that a and b are adjacent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and only if</a:t>
            </a:r>
            <a:r>
              <a:rPr lang="en-US" sz="1800"/>
              <a:t>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f(a) and f(b) are adjacent in G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for all a and b in V</a:t>
            </a:r>
            <a:r>
              <a:rPr lang="en-US" sz="18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Such a</a:t>
            </a:r>
            <a:r>
              <a:rPr lang="en-US" sz="1800"/>
              <a:t>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is called an isomorphism. Two simple graphs that are not</a:t>
            </a:r>
            <a:r>
              <a:rPr lang="en-US" sz="1800"/>
              <a:t> </a:t>
            </a: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isomorphic are called </a:t>
            </a:r>
            <a:r>
              <a:rPr lang="en-US" sz="18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 isomorphic.</a:t>
            </a:r>
            <a:endParaRPr sz="2000" b="0" i="1" u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one-to-one correspondence between vertices of the two graphs that preserves the adjacency relationship</a:t>
            </a:r>
            <a:endParaRPr/>
          </a:p>
        </p:txBody>
      </p:sp>
      <p:pic>
        <p:nvPicPr>
          <p:cNvPr id="388" name="Google Shape;38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292078"/>
            <a:ext cx="1223962" cy="167997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5"/>
          <p:cNvSpPr txBox="1"/>
          <p:nvPr/>
        </p:nvSpPr>
        <p:spPr>
          <a:xfrm>
            <a:off x="1906175" y="3204000"/>
            <a:ext cx="457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the two graph isomorphic?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v</a:t>
            </a:r>
            <a:r>
              <a:rPr lang="en-US" sz="2400" b="0" i="0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3870725" y="4250525"/>
            <a:ext cx="4926900" cy="831000"/>
          </a:xfrm>
          <a:prstGeom prst="rect">
            <a:avLst/>
          </a:prstGeom>
          <a:solidFill>
            <a:srgbClr val="01EA8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 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 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endParaRPr sz="1600" b="0" i="1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 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 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6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 (u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304800" y="1085850"/>
            <a:ext cx="8229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</a:rPr>
              <a:t>Two graphs G1 and G2 are said to be isomorphic if −</a:t>
            </a:r>
            <a:endParaRPr sz="2000" b="1">
              <a:solidFill>
                <a:schemeClr val="dk1"/>
              </a:solidFill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Their number of components (vertices and edges) are same.</a:t>
            </a:r>
            <a:endParaRPr sz="2000" b="1">
              <a:solidFill>
                <a:schemeClr val="dk1"/>
              </a:solidFill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Degree sequences of G1 and G2 are same.</a:t>
            </a:r>
            <a:endParaRPr sz="2000" b="1">
              <a:solidFill>
                <a:schemeClr val="dk1"/>
              </a:solidFill>
            </a:endParaRPr>
          </a:p>
        </p:txBody>
      </p:sp>
      <p:pic>
        <p:nvPicPr>
          <p:cNvPr id="398" name="Google Shape;39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2971800"/>
            <a:ext cx="1428750" cy="196095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6"/>
          <p:cNvSpPr txBox="1"/>
          <p:nvPr/>
        </p:nvSpPr>
        <p:spPr>
          <a:xfrm>
            <a:off x="2591975" y="2444700"/>
            <a:ext cx="4572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the two graph isomorphic?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2643200" y="3220650"/>
            <a:ext cx="5179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>
                <a:solidFill>
                  <a:schemeClr val="dk1"/>
                </a:solidFill>
              </a:rPr>
              <a:t>For G1 and G2</a:t>
            </a:r>
            <a:endParaRPr sz="2000" b="1">
              <a:solidFill>
                <a:schemeClr val="dk1"/>
              </a:solidFill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Nodes = 4, Edges = 4</a:t>
            </a:r>
            <a:endParaRPr sz="2000" b="1">
              <a:solidFill>
                <a:schemeClr val="dk1"/>
              </a:solidFill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1">
                <a:solidFill>
                  <a:schemeClr val="dk1"/>
                </a:solidFill>
              </a:rPr>
              <a:t>Degree sequences = 2,2,2,2.</a:t>
            </a:r>
            <a:endParaRPr sz="20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e6426e02c0_0_8"/>
          <p:cNvSpPr txBox="1">
            <a:spLocks noGrp="1"/>
          </p:cNvSpPr>
          <p:nvPr>
            <p:ph type="title"/>
          </p:nvPr>
        </p:nvSpPr>
        <p:spPr>
          <a:xfrm>
            <a:off x="0" y="177165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2838</Words>
  <Application>Microsoft Office PowerPoint</Application>
  <PresentationFormat>On-screen Show (16:9)</PresentationFormat>
  <Paragraphs>328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Times New Roman</vt:lpstr>
      <vt:lpstr>Arial</vt:lpstr>
      <vt:lpstr>1_NewsPrint</vt:lpstr>
      <vt:lpstr>Graph</vt:lpstr>
      <vt:lpstr>Graph </vt:lpstr>
      <vt:lpstr>Terminology</vt:lpstr>
      <vt:lpstr>Directed graph</vt:lpstr>
      <vt:lpstr>Directed graph</vt:lpstr>
      <vt:lpstr>Directed graph</vt:lpstr>
      <vt:lpstr>Undirected graph</vt:lpstr>
      <vt:lpstr>Undirected graph</vt:lpstr>
      <vt:lpstr>Undirected graph</vt:lpstr>
      <vt:lpstr>Undirected graph</vt:lpstr>
      <vt:lpstr>Undirected graph</vt:lpstr>
      <vt:lpstr>Directed graph</vt:lpstr>
      <vt:lpstr>Directed graph</vt:lpstr>
      <vt:lpstr>Directed graph</vt:lpstr>
      <vt:lpstr>Complete graph</vt:lpstr>
      <vt:lpstr>A Cycle</vt:lpstr>
      <vt:lpstr>Representation: Adjacency List</vt:lpstr>
      <vt:lpstr>Representation: Adjacency List</vt:lpstr>
      <vt:lpstr>Adjacency Matrix</vt:lpstr>
      <vt:lpstr>Adjacency Matrix</vt:lpstr>
      <vt:lpstr>Tree</vt:lpstr>
      <vt:lpstr>Tree</vt:lpstr>
      <vt:lpstr>Tree</vt:lpstr>
      <vt:lpstr>Rooted Tree</vt:lpstr>
      <vt:lpstr>Rooted Tree Terminology</vt:lpstr>
      <vt:lpstr>Rooted Tree Terminology</vt:lpstr>
      <vt:lpstr>Rooted Tree Terminology</vt:lpstr>
      <vt:lpstr>Rooted Tree Terminology</vt:lpstr>
      <vt:lpstr>Rooted Tree Terminology</vt:lpstr>
      <vt:lpstr>Binary Tree</vt:lpstr>
      <vt:lpstr>M-ary Tree</vt:lpstr>
      <vt:lpstr>Bipartite Graph </vt:lpstr>
      <vt:lpstr>Bipartite Graph </vt:lpstr>
      <vt:lpstr>Bipartite Graph </vt:lpstr>
      <vt:lpstr>Bipartite Graph </vt:lpstr>
      <vt:lpstr>Complete Bipartite Graph </vt:lpstr>
      <vt:lpstr>Complete Bipartite Graph </vt:lpstr>
      <vt:lpstr>Subgraph</vt:lpstr>
      <vt:lpstr>Union of Graph</vt:lpstr>
      <vt:lpstr>Graph Isomorphism</vt:lpstr>
      <vt:lpstr>Graph Isomorphism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Roger Pressman</dc:creator>
  <cp:lastModifiedBy>Acer</cp:lastModifiedBy>
  <cp:revision>3</cp:revision>
  <dcterms:created xsi:type="dcterms:W3CDTF">2011-04-14T19:19:04Z</dcterms:created>
  <dcterms:modified xsi:type="dcterms:W3CDTF">2022-08-09T12:56:47Z</dcterms:modified>
</cp:coreProperties>
</file>