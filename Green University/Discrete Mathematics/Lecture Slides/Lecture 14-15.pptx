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37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7" r:id="rId32"/>
    <p:sldId id="288" r:id="rId33"/>
    <p:sldId id="289" r:id="rId34"/>
    <p:sldId id="290" r:id="rId35"/>
    <p:sldId id="291" r:id="rId36"/>
  </p:sldIdLst>
  <p:sldSz cx="9144000" cy="5143500" type="screen16x9"/>
  <p:notesSz cx="7315200" cy="9601200"/>
  <p:embeddedFontLst>
    <p:embeddedFont>
      <p:font typeface="Roboto" panose="020B060402020202020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0" roundtripDataSignature="AMtx7mjJho5krU697X0CVePVk6jPYOG3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E10CF1-9832-444A-8D2A-12A77D7739DB}">
  <a:tblStyle styleId="{95E10CF1-9832-444A-8D2A-12A77D7739D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30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50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font" Target="fonts/font4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/>
          </a:p>
        </p:txBody>
      </p:sp>
      <p:sp>
        <p:nvSpPr>
          <p:cNvPr id="36" name="Google Shape;3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b4dc8ee4e_1_75:notes"/>
          <p:cNvSpPr txBox="1"/>
          <p:nvPr/>
        </p:nvSpPr>
        <p:spPr>
          <a:xfrm>
            <a:off x="4144962" y="9121775"/>
            <a:ext cx="31701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eb4dc8ee4e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" name="Google Shape;44;geb4dc8ee4e_1_7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eb4dc8ee4e_1_81:notes"/>
          <p:cNvSpPr txBox="1"/>
          <p:nvPr/>
        </p:nvSpPr>
        <p:spPr>
          <a:xfrm>
            <a:off x="4144962" y="9121775"/>
            <a:ext cx="31701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geb4dc8ee4e_1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geb4dc8ee4e_1_8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eb4dc8ee4e_1_88:notes"/>
          <p:cNvSpPr txBox="1"/>
          <p:nvPr/>
        </p:nvSpPr>
        <p:spPr>
          <a:xfrm>
            <a:off x="4144962" y="9121775"/>
            <a:ext cx="31701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eb4dc8ee4e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geb4dc8ee4e_1_8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eb4dc8ee4e_1_94:notes"/>
          <p:cNvSpPr txBox="1"/>
          <p:nvPr/>
        </p:nvSpPr>
        <p:spPr>
          <a:xfrm>
            <a:off x="4144962" y="9121775"/>
            <a:ext cx="31701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geb4dc8ee4e_1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geb4dc8ee4e_1_9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eb4dc8ee4e_1_100:notes"/>
          <p:cNvSpPr txBox="1"/>
          <p:nvPr/>
        </p:nvSpPr>
        <p:spPr>
          <a:xfrm>
            <a:off x="4144962" y="9121775"/>
            <a:ext cx="31701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geb4dc8ee4e_1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geb4dc8ee4e_1_10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b4dc8ee4e_1_108:notes"/>
          <p:cNvSpPr txBox="1"/>
          <p:nvPr/>
        </p:nvSpPr>
        <p:spPr>
          <a:xfrm>
            <a:off x="4144962" y="9121775"/>
            <a:ext cx="31701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geb4dc8ee4e_1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geb4dc8ee4e_1_10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eb4dc8ee4e_1_115:notes"/>
          <p:cNvSpPr txBox="1"/>
          <p:nvPr/>
        </p:nvSpPr>
        <p:spPr>
          <a:xfrm>
            <a:off x="4144962" y="9121775"/>
            <a:ext cx="31701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eb4dc8ee4e_1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geb4dc8ee4e_1_11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eb4dc8ee4e_1_121:notes"/>
          <p:cNvSpPr txBox="1"/>
          <p:nvPr/>
        </p:nvSpPr>
        <p:spPr>
          <a:xfrm>
            <a:off x="4144962" y="9121775"/>
            <a:ext cx="31701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eb4dc8ee4e_1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geb4dc8ee4e_1_12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eb4dc8ee4e_1_128:notes"/>
          <p:cNvSpPr txBox="1"/>
          <p:nvPr/>
        </p:nvSpPr>
        <p:spPr>
          <a:xfrm>
            <a:off x="4144962" y="9121775"/>
            <a:ext cx="31701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eb4dc8ee4e_1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geb4dc8ee4e_1_12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/>
          </a:p>
        </p:txBody>
      </p:sp>
      <p:sp>
        <p:nvSpPr>
          <p:cNvPr id="113" name="Google Shape;11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1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/>
          </a:p>
        </p:txBody>
      </p:sp>
      <p:sp>
        <p:nvSpPr>
          <p:cNvPr id="123" name="Google Shape;12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1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/>
          </a:p>
        </p:txBody>
      </p:sp>
      <p:sp>
        <p:nvSpPr>
          <p:cNvPr id="132" name="Google Shape;13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19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/>
          </a:p>
        </p:txBody>
      </p:sp>
      <p:sp>
        <p:nvSpPr>
          <p:cNvPr id="139" name="Google Shape;13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2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/>
          </a:p>
        </p:txBody>
      </p:sp>
      <p:sp>
        <p:nvSpPr>
          <p:cNvPr id="147" name="Google Shape;14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2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ebe19b92d7_0_0:notes"/>
          <p:cNvSpPr txBox="1"/>
          <p:nvPr/>
        </p:nvSpPr>
        <p:spPr>
          <a:xfrm>
            <a:off x="4144962" y="9121775"/>
            <a:ext cx="31701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/>
          </a:p>
        </p:txBody>
      </p:sp>
      <p:sp>
        <p:nvSpPr>
          <p:cNvPr id="157" name="Google Shape;157;gebe19b92d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gebe19b92d7_0_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/>
          </a:p>
        </p:txBody>
      </p:sp>
      <p:sp>
        <p:nvSpPr>
          <p:cNvPr id="166" name="Google Shape;16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2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/>
          </a:p>
        </p:txBody>
      </p:sp>
      <p:sp>
        <p:nvSpPr>
          <p:cNvPr id="173" name="Google Shape;17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2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/>
          </a:p>
        </p:txBody>
      </p:sp>
      <p:sp>
        <p:nvSpPr>
          <p:cNvPr id="180" name="Google Shape;18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2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/>
          </a:p>
        </p:txBody>
      </p:sp>
      <p:sp>
        <p:nvSpPr>
          <p:cNvPr id="187" name="Google Shape;18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2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/>
          </a:p>
        </p:txBody>
      </p:sp>
      <p:sp>
        <p:nvSpPr>
          <p:cNvPr id="194" name="Google Shape;19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27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/>
          </a:p>
        </p:txBody>
      </p:sp>
      <p:sp>
        <p:nvSpPr>
          <p:cNvPr id="201" name="Google Shape;20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2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/>
          </a:p>
        </p:txBody>
      </p:sp>
      <p:sp>
        <p:nvSpPr>
          <p:cNvPr id="208" name="Google Shape;20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29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/>
          </a:p>
        </p:txBody>
      </p:sp>
      <p:sp>
        <p:nvSpPr>
          <p:cNvPr id="215" name="Google Shape;21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3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/>
          </a:p>
        </p:txBody>
      </p:sp>
      <p:sp>
        <p:nvSpPr>
          <p:cNvPr id="225" name="Google Shape;22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3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5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/>
          </a:p>
        </p:txBody>
      </p:sp>
      <p:sp>
        <p:nvSpPr>
          <p:cNvPr id="236" name="Google Shape;23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3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/>
          </a:p>
        </p:txBody>
      </p:sp>
      <p:sp>
        <p:nvSpPr>
          <p:cNvPr id="244" name="Google Shape;24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36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eae8f48d8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eae8f48d81_0_2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geae8f48d81_0_20:notes"/>
          <p:cNvSpPr txBox="1">
            <a:spLocks noGrp="1"/>
          </p:cNvSpPr>
          <p:nvPr>
            <p:ph type="sldNum" idx="12"/>
          </p:nvPr>
        </p:nvSpPr>
        <p:spPr>
          <a:xfrm>
            <a:off x="4144962" y="9121775"/>
            <a:ext cx="3170100" cy="4794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 sz="14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eae8f48d8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eae8f48d81_0_3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geae8f48d81_0_30:notes"/>
          <p:cNvSpPr txBox="1">
            <a:spLocks noGrp="1"/>
          </p:cNvSpPr>
          <p:nvPr>
            <p:ph type="sldNum" idx="12"/>
          </p:nvPr>
        </p:nvSpPr>
        <p:spPr>
          <a:xfrm>
            <a:off x="4144962" y="9121775"/>
            <a:ext cx="3170100" cy="4794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 sz="14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8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/>
          </a:p>
        </p:txBody>
      </p:sp>
      <p:sp>
        <p:nvSpPr>
          <p:cNvPr id="273" name="Google Shape;27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3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1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/>
          </a:p>
        </p:txBody>
      </p:sp>
      <p:sp>
        <p:nvSpPr>
          <p:cNvPr id="281" name="Google Shape;28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p4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2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/>
          </a:p>
        </p:txBody>
      </p:sp>
      <p:sp>
        <p:nvSpPr>
          <p:cNvPr id="288" name="Google Shape;288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4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3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/>
          </a:p>
        </p:txBody>
      </p:sp>
      <p:sp>
        <p:nvSpPr>
          <p:cNvPr id="295" name="Google Shape;29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4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7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5"/>
          <p:cNvSpPr txBox="1">
            <a:spLocks noGrp="1"/>
          </p:cNvSpPr>
          <p:nvPr>
            <p:ph type="body" idx="1"/>
          </p:nvPr>
        </p:nvSpPr>
        <p:spPr>
          <a:xfrm>
            <a:off x="838200" y="1028700"/>
            <a:ext cx="75438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68300" algn="l">
              <a:spcBef>
                <a:spcPts val="440"/>
              </a:spcBef>
              <a:spcAft>
                <a:spcPts val="0"/>
              </a:spcAft>
              <a:buClr>
                <a:srgbClr val="FF0000"/>
              </a:buClr>
              <a:buSzPts val="2200"/>
              <a:buChar char="•"/>
              <a:defRPr>
                <a:solidFill>
                  <a:schemeClr val="dk1"/>
                </a:solidFill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eb4dc8ee4e_1_14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eb4dc8ee4e_1_147"/>
          <p:cNvSpPr txBox="1">
            <a:spLocks noGrp="1"/>
          </p:cNvSpPr>
          <p:nvPr>
            <p:ph type="body" idx="1"/>
          </p:nvPr>
        </p:nvSpPr>
        <p:spPr>
          <a:xfrm>
            <a:off x="838200" y="1028700"/>
            <a:ext cx="75438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FF0000"/>
              </a:buClr>
              <a:buSzPts val="2200"/>
              <a:buChar char="•"/>
              <a:defRPr>
                <a:solidFill>
                  <a:schemeClr val="dk1"/>
                </a:solidFill>
              </a:defRPr>
            </a:lvl2pPr>
            <a:lvl3pPr marL="137160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  <a:defRPr>
                <a:solidFill>
                  <a:schemeClr val="dk1"/>
                </a:solidFill>
              </a:defRPr>
            </a:lvl4pPr>
            <a:lvl5pPr marL="228600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4"/>
          <p:cNvSpPr txBox="1"/>
          <p:nvPr/>
        </p:nvSpPr>
        <p:spPr>
          <a:xfrm>
            <a:off x="0" y="994172"/>
            <a:ext cx="9144000" cy="34500"/>
          </a:xfrm>
          <a:prstGeom prst="rect">
            <a:avLst/>
          </a:prstGeom>
          <a:solidFill>
            <a:srgbClr val="018952"/>
          </a:solidFill>
          <a:ln w="22225" cap="flat" cmpd="sng">
            <a:solidFill>
              <a:srgbClr val="0189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44"/>
          <p:cNvSpPr txBox="1"/>
          <p:nvPr/>
        </p:nvSpPr>
        <p:spPr>
          <a:xfrm>
            <a:off x="8610600" y="4800600"/>
            <a:ext cx="533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" name="Google Shape;12;p4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44"/>
          <p:cNvSpPr txBox="1">
            <a:spLocks noGrp="1"/>
          </p:cNvSpPr>
          <p:nvPr>
            <p:ph type="body" idx="1"/>
          </p:nvPr>
        </p:nvSpPr>
        <p:spPr>
          <a:xfrm>
            <a:off x="838200" y="1028700"/>
            <a:ext cx="75438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68300" algn="l" rtl="0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eb4dc8ee4e_1_142"/>
          <p:cNvSpPr txBox="1"/>
          <p:nvPr/>
        </p:nvSpPr>
        <p:spPr>
          <a:xfrm>
            <a:off x="0" y="994172"/>
            <a:ext cx="9144000" cy="34500"/>
          </a:xfrm>
          <a:prstGeom prst="rect">
            <a:avLst/>
          </a:prstGeom>
          <a:solidFill>
            <a:srgbClr val="018952"/>
          </a:solidFill>
          <a:ln w="22225" cap="flat" cmpd="sng">
            <a:solidFill>
              <a:srgbClr val="0189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geb4dc8ee4e_1_142"/>
          <p:cNvSpPr txBox="1"/>
          <p:nvPr/>
        </p:nvSpPr>
        <p:spPr>
          <a:xfrm>
            <a:off x="8610600" y="4800600"/>
            <a:ext cx="533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geb4dc8ee4e_1_14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geb4dc8ee4e_1_142"/>
          <p:cNvSpPr txBox="1">
            <a:spLocks noGrp="1"/>
          </p:cNvSpPr>
          <p:nvPr>
            <p:ph type="body" idx="1"/>
          </p:nvPr>
        </p:nvSpPr>
        <p:spPr>
          <a:xfrm>
            <a:off x="838200" y="1028700"/>
            <a:ext cx="75438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i="0" u="none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Counting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388850" y="1196775"/>
            <a:ext cx="85344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Assume we have a set of </a:t>
            </a:r>
            <a:r>
              <a:rPr lang="en-US" sz="24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objects with certain properties.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Counting is used to </a:t>
            </a:r>
            <a:r>
              <a:rPr lang="en-US" sz="24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determine </a:t>
            </a:r>
            <a:r>
              <a:rPr lang="en-US" sz="24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number </a:t>
            </a:r>
            <a:r>
              <a:rPr lang="en-US" sz="24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of these</a:t>
            </a:r>
            <a:r>
              <a:rPr lang="en-US" sz="24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objects.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Examples: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available </a:t>
            </a:r>
            <a:r>
              <a:rPr lang="en-US" sz="24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phone numbers </a:t>
            </a: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with  11 digits in the local  calling area.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</a:t>
            </a:r>
            <a:r>
              <a:rPr lang="en-US" sz="24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possible match</a:t>
            </a:r>
            <a:r>
              <a:rPr lang="en-US" sz="24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es</a:t>
            </a:r>
            <a:r>
              <a:rPr lang="en-US" sz="24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(football, cricket) given the number of team </a:t>
            </a: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members</a:t>
            </a:r>
            <a:r>
              <a:rPr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eb4dc8ee4e_1_7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Basic Counting Rules</a:t>
            </a:r>
            <a:endParaRPr/>
          </a:p>
        </p:txBody>
      </p:sp>
      <p:sp>
        <p:nvSpPr>
          <p:cNvPr id="47" name="Google Shape;47;geb4dc8ee4e_1_75"/>
          <p:cNvSpPr txBox="1"/>
          <p:nvPr/>
        </p:nvSpPr>
        <p:spPr>
          <a:xfrm>
            <a:off x="285875" y="1154775"/>
            <a:ext cx="8712900" cy="3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Counting problems may be very hard, not obvious</a:t>
            </a:r>
            <a:endParaRPr sz="2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Solution:</a:t>
            </a:r>
            <a:r>
              <a:rPr lang="en-US" sz="2200" b="1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simplify </a:t>
            </a:r>
            <a:r>
              <a:rPr lang="en-US" sz="22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solution </a:t>
            </a:r>
            <a:r>
              <a:rPr lang="en-US" sz="2200" b="1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by decomposing </a:t>
            </a:r>
            <a:r>
              <a:rPr lang="en-US" sz="22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problem</a:t>
            </a:r>
            <a:endParaRPr sz="22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Two basic decomposition rules:</a:t>
            </a:r>
            <a:endParaRPr sz="22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Product rule</a:t>
            </a:r>
            <a:r>
              <a:rPr lang="en-US" sz="2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count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decomposes into a 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sequence</a:t>
            </a:r>
            <a:r>
              <a:rPr lang="en-US" sz="2000" b="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of dependent counts</a:t>
            </a:r>
            <a:endParaRPr sz="2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828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(“each element in the first count is associated with all</a:t>
            </a:r>
            <a:r>
              <a:rPr lang="en-US" sz="22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elements of the second count”)</a:t>
            </a:r>
            <a:endParaRPr sz="22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Sum rule</a:t>
            </a:r>
            <a:r>
              <a:rPr lang="en-US" sz="2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count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decomposes into a 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set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of independent counts</a:t>
            </a:r>
            <a:endParaRPr sz="2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(“elements of counts are alternatives”)</a:t>
            </a:r>
            <a:endParaRPr sz="2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eb4dc8ee4e_1_8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Product Rule</a:t>
            </a:r>
            <a:endParaRPr/>
          </a:p>
        </p:txBody>
      </p:sp>
      <p:sp>
        <p:nvSpPr>
          <p:cNvPr id="54" name="Google Shape;54;geb4dc8ee4e_1_81"/>
          <p:cNvSpPr txBox="1"/>
          <p:nvPr/>
        </p:nvSpPr>
        <p:spPr>
          <a:xfrm>
            <a:off x="304800" y="1028700"/>
            <a:ext cx="8534400" cy="28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count can be broken </a:t>
            </a:r>
            <a:r>
              <a:rPr lang="en-US" sz="20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down into a sequence of dependent </a:t>
            </a: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counts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“each element in the first count is associated with all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elements of the second count”</a:t>
            </a:r>
            <a:endParaRPr sz="20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Example:</a:t>
            </a:r>
            <a:endParaRPr sz="20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Assume an auditorium with </a:t>
            </a:r>
            <a:r>
              <a:rPr lang="en-US" sz="20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 seat labeled by a letter </a:t>
            </a: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numbers</a:t>
            </a: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 between 1 to 50 (e.g. A23). We want the </a:t>
            </a:r>
            <a:r>
              <a:rPr lang="en-US" sz="20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total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number of seats in the auditorium.</a:t>
            </a:r>
            <a:endParaRPr sz="20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26 letters and 50 numbers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-US" sz="20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How to count?</a:t>
            </a:r>
            <a:endParaRPr sz="1800" i="0" u="none" strike="noStrike" cap="non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geb4dc8ee4e_1_81"/>
          <p:cNvSpPr txBox="1"/>
          <p:nvPr/>
        </p:nvSpPr>
        <p:spPr>
          <a:xfrm>
            <a:off x="1044875" y="3914975"/>
            <a:ext cx="71577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One solution: </a:t>
            </a:r>
            <a:r>
              <a:rPr lang="en-US" sz="2000" b="1" i="0" u="none" strike="noStrike" cap="non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write down all seats (objects) and count them</a:t>
            </a:r>
            <a:endParaRPr sz="20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A-1 A-2 A-3 …A-50 B-1… Z-49 Z-50</a:t>
            </a:r>
            <a:endParaRPr sz="20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2 3 50 51 … (n-1) n </a:t>
            </a:r>
            <a:r>
              <a:rPr lang="en-US" sz="20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← eventually we get it</a:t>
            </a:r>
            <a:endParaRPr sz="20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eb4dc8ee4e_1_8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Product Rule</a:t>
            </a:r>
            <a:endParaRPr/>
          </a:p>
        </p:txBody>
      </p:sp>
      <p:sp>
        <p:nvSpPr>
          <p:cNvPr id="62" name="Google Shape;62;geb4dc8ee4e_1_88"/>
          <p:cNvSpPr txBox="1"/>
          <p:nvPr/>
        </p:nvSpPr>
        <p:spPr>
          <a:xfrm>
            <a:off x="304800" y="1028700"/>
            <a:ext cx="8534400" cy="39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26 letters and 50 numbers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-US" sz="20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How to count?</a:t>
            </a:r>
            <a:endParaRPr sz="20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One solution: </a:t>
            </a:r>
            <a:r>
              <a:rPr lang="en-US" sz="2000" b="1" i="0" u="none" strike="noStrike" cap="non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write down all seats (objects) and count them</a:t>
            </a:r>
            <a:endParaRPr sz="20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A-1 A-2 A-3 …A-50 B-1… Z-49 Z-50</a:t>
            </a:r>
            <a:endParaRPr sz="20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2 3 50 51 … (n-1) n </a:t>
            </a:r>
            <a:r>
              <a:rPr lang="en-US" sz="20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← eventually we get it</a:t>
            </a:r>
            <a:endParaRPr sz="20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 better solution?</a:t>
            </a:r>
            <a:endParaRPr sz="20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each letter there are 50 numbers</a:t>
            </a:r>
            <a:endParaRPr sz="20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 the number of seats is </a:t>
            </a:r>
            <a:r>
              <a:rPr lang="en-US" sz="20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26*50 = 1300</a:t>
            </a:r>
            <a:endParaRPr sz="2000" i="0" u="none" strike="noStrike" cap="non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Product rule: </a:t>
            </a:r>
            <a:r>
              <a:rPr lang="en-US" sz="2000" b="1" i="0" u="none" strike="noStrike" cap="non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number of letters </a:t>
            </a:r>
            <a:r>
              <a:rPr lang="en-US" sz="2000" b="1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* </a:t>
            </a:r>
            <a:r>
              <a:rPr lang="en-US" sz="2000" b="1" i="0" u="none" strike="noStrike" cap="non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number of integers in [1,50]</a:t>
            </a:r>
            <a:endParaRPr sz="20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eb4dc8ee4e_1_9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Product Rule</a:t>
            </a:r>
            <a:endParaRPr/>
          </a:p>
        </p:txBody>
      </p:sp>
      <p:sp>
        <p:nvSpPr>
          <p:cNvPr id="69" name="Google Shape;69;geb4dc8ee4e_1_94"/>
          <p:cNvSpPr txBox="1"/>
          <p:nvPr/>
        </p:nvSpPr>
        <p:spPr>
          <a:xfrm>
            <a:off x="304800" y="1028700"/>
            <a:ext cx="85344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count can be broken </a:t>
            </a:r>
            <a:r>
              <a:rPr lang="en-US" sz="24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down into a sequence of dependent </a:t>
            </a:r>
            <a:r>
              <a:rPr lang="en-US"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counts </a:t>
            </a:r>
            <a:r>
              <a:rPr lang="en-US"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“each element in the first count is associated with all</a:t>
            </a:r>
            <a:endParaRPr sz="24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elements of the second count”</a:t>
            </a:r>
            <a:endParaRPr sz="24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Product rule: </a:t>
            </a:r>
            <a:r>
              <a:rPr lang="en-US"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a count of elements can be </a:t>
            </a:r>
            <a:r>
              <a:rPr lang="en-US" sz="24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broken</a:t>
            </a:r>
            <a:r>
              <a:rPr lang="en-US"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down into a </a:t>
            </a:r>
            <a:r>
              <a:rPr lang="en-US" sz="24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sequence of dependent counts</a:t>
            </a:r>
            <a:r>
              <a:rPr lang="en-US"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where the first count yields </a:t>
            </a:r>
            <a:r>
              <a:rPr lang="en-US" sz="2400" i="1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n1</a:t>
            </a:r>
            <a:r>
              <a:rPr lang="en-US" sz="2400" i="1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elements, the second </a:t>
            </a:r>
            <a:r>
              <a:rPr lang="en-US" sz="2400" i="1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n2</a:t>
            </a:r>
            <a:r>
              <a:rPr lang="en-US" sz="2400" i="1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elements, and kth count </a:t>
            </a:r>
            <a:r>
              <a:rPr lang="en-US" sz="2400" i="1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nk</a:t>
            </a:r>
            <a:r>
              <a:rPr lang="en-US" sz="2400" i="1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elements, by </a:t>
            </a:r>
            <a:r>
              <a:rPr lang="en-US"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product rule the total number of elements is:</a:t>
            </a:r>
            <a:endParaRPr sz="24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828800" marR="0" lvl="0" indent="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i="1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 = n1*n2* …* nk</a:t>
            </a:r>
            <a:endParaRPr sz="24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eb4dc8ee4e_1_10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Product Rule</a:t>
            </a:r>
            <a:endParaRPr/>
          </a:p>
        </p:txBody>
      </p:sp>
      <p:sp>
        <p:nvSpPr>
          <p:cNvPr id="76" name="Google Shape;76;geb4dc8ee4e_1_100"/>
          <p:cNvSpPr txBox="1"/>
          <p:nvPr/>
        </p:nvSpPr>
        <p:spPr>
          <a:xfrm>
            <a:off x="304800" y="1028700"/>
            <a:ext cx="8534400" cy="11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Example:</a:t>
            </a:r>
            <a:endParaRPr sz="18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many different bit strings of length 7 are there?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E.g. 1011010</a:t>
            </a:r>
            <a:endParaRPr sz="20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 it possible to </a:t>
            </a:r>
            <a:r>
              <a:rPr lang="en-US" sz="20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decompose the count problem </a:t>
            </a: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if yes how?</a:t>
            </a:r>
            <a:endParaRPr sz="20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7" name="Google Shape;77;geb4dc8ee4e_1_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37925" y="2257425"/>
            <a:ext cx="2914651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eb4dc8ee4e_1_100"/>
          <p:cNvSpPr txBox="1"/>
          <p:nvPr/>
        </p:nvSpPr>
        <p:spPr>
          <a:xfrm>
            <a:off x="205200" y="2257425"/>
            <a:ext cx="8634000" cy="27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Yes.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Count the </a:t>
            </a:r>
            <a:r>
              <a:rPr lang="en-US" sz="2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number of possible assignments to bit 1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the specific first bit count possible assignments to bit 2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the specific first two bits count assignments to bit 3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assignments to the first 3 bits: </a:t>
            </a:r>
            <a:r>
              <a:rPr lang="en-US" sz="2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2*2*2=8</a:t>
            </a:r>
            <a:endParaRPr sz="2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Gives a sequence of n dependent counts and by the product rule we have: </a:t>
            </a:r>
            <a:r>
              <a:rPr lang="en-US" sz="20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 = 2* 2 * 2 * 2 * 2 * 2 *2 = 2</a:t>
            </a:r>
            <a:r>
              <a:rPr lang="en-US" sz="2000" b="1" baseline="30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sz="18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eb4dc8ee4e_1_10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Sum Rule</a:t>
            </a:r>
            <a:endParaRPr/>
          </a:p>
        </p:txBody>
      </p:sp>
      <p:sp>
        <p:nvSpPr>
          <p:cNvPr id="85" name="Google Shape;85;geb4dc8ee4e_1_108"/>
          <p:cNvSpPr txBox="1"/>
          <p:nvPr/>
        </p:nvSpPr>
        <p:spPr>
          <a:xfrm>
            <a:off x="304800" y="1028700"/>
            <a:ext cx="8534400" cy="28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-US" sz="20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count decomposes into a set of independent </a:t>
            </a: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counts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“elements of counts are alternatives”, they do not depend on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each other.</a:t>
            </a:r>
            <a:endParaRPr sz="20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Example:</a:t>
            </a:r>
            <a:endParaRPr sz="18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 need to </a:t>
            </a:r>
            <a:r>
              <a:rPr lang="en-US" sz="20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travel</a:t>
            </a: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 between </a:t>
            </a:r>
            <a:r>
              <a:rPr lang="en-US" sz="20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city A and B</a:t>
            </a: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You can either </a:t>
            </a:r>
            <a:r>
              <a:rPr lang="en-US" sz="20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fly, take a train, or a bus</a:t>
            </a: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There are </a:t>
            </a:r>
            <a:r>
              <a:rPr lang="en-US" sz="20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3 </a:t>
            </a: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different flights in between A and B, </a:t>
            </a:r>
            <a:r>
              <a:rPr lang="en-US" sz="20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different trains and </a:t>
            </a:r>
            <a:r>
              <a:rPr lang="en-US" sz="20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buses.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many options do you have to get from A to B?</a:t>
            </a:r>
            <a:endParaRPr sz="20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18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1800" i="0" u="none" strike="noStrike" cap="none" baseline="30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800" i="0" u="none" strike="noStrike" cap="none" baseline="30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geb4dc8ee4e_1_108"/>
          <p:cNvSpPr txBox="1"/>
          <p:nvPr/>
        </p:nvSpPr>
        <p:spPr>
          <a:xfrm>
            <a:off x="871700" y="3238375"/>
            <a:ext cx="71046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can take only one type of transportation and for each only one option. The number of options: </a:t>
            </a:r>
            <a:r>
              <a:rPr lang="en-US" sz="2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 = 3+2+10</a:t>
            </a:r>
            <a:endParaRPr sz="2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Sum rule: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 = number of flights + number of trains + number of buses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eb4dc8ee4e_1_1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Sum Rule</a:t>
            </a:r>
            <a:endParaRPr/>
          </a:p>
        </p:txBody>
      </p:sp>
      <p:sp>
        <p:nvSpPr>
          <p:cNvPr id="93" name="Google Shape;93;geb4dc8ee4e_1_115"/>
          <p:cNvSpPr txBox="1"/>
          <p:nvPr/>
        </p:nvSpPr>
        <p:spPr>
          <a:xfrm>
            <a:off x="304800" y="1028700"/>
            <a:ext cx="85344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count decomposes into a set of independent count</a:t>
            </a:r>
            <a:r>
              <a:rPr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 </a:t>
            </a:r>
            <a:r>
              <a:rPr lang="en-US"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“elements of counts are alternatives”</a:t>
            </a:r>
            <a:endParaRPr sz="24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Sum rule</a:t>
            </a:r>
            <a:r>
              <a:rPr lang="en-US"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If a count of elements can be broken down into a </a:t>
            </a:r>
            <a:r>
              <a:rPr lang="en-US" sz="24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set</a:t>
            </a:r>
            <a:r>
              <a:rPr lang="en-US" sz="2400" b="1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of independent counts </a:t>
            </a:r>
            <a:r>
              <a:rPr lang="en-US"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where the first count yields </a:t>
            </a:r>
            <a:r>
              <a:rPr lang="en-US" sz="2400" i="1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n1</a:t>
            </a:r>
            <a:r>
              <a:rPr lang="en-US" sz="2400" i="1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elements, </a:t>
            </a:r>
            <a:r>
              <a:rPr lang="en-US"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second </a:t>
            </a:r>
            <a:r>
              <a:rPr lang="en-US" sz="2400" i="1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n2</a:t>
            </a:r>
            <a:r>
              <a:rPr lang="en-US" sz="2400" i="1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elements, and kth count </a:t>
            </a:r>
            <a:r>
              <a:rPr lang="en-US" sz="2400" i="1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nk</a:t>
            </a:r>
            <a:r>
              <a:rPr lang="en-US" sz="2400" i="1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elements, by the sum </a:t>
            </a:r>
            <a:r>
              <a:rPr lang="en-US"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rule the total number of elements is:</a:t>
            </a:r>
            <a:endParaRPr sz="24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43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i="1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 = n1+n2+ …+ nk</a:t>
            </a:r>
            <a:endParaRPr sz="24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eb4dc8ee4e_1_1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Inclusion Exclusion Principle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geb4dc8ee4e_1_121"/>
          <p:cNvSpPr txBox="1"/>
          <p:nvPr/>
        </p:nvSpPr>
        <p:spPr>
          <a:xfrm>
            <a:off x="304800" y="1028700"/>
            <a:ext cx="8534400" cy="25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Used in counts where the </a:t>
            </a:r>
            <a:r>
              <a:rPr lang="en-US" sz="2000" b="1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decomposition yields two dependent count tasks with overlapping elements</a:t>
            </a:r>
            <a:endParaRPr sz="20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we used the sum rule some elements would be counted twice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Inclusion</a:t>
            </a:r>
            <a:r>
              <a:rPr lang="en-US" sz="20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b="1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exclusion principle: </a:t>
            </a:r>
            <a:r>
              <a:rPr lang="en-US" sz="2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uses a sum rule and then corrects for the overlapping elements.</a:t>
            </a:r>
            <a:endParaRPr sz="20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used the principle for the cardinality of the set union.</a:t>
            </a:r>
            <a:endParaRPr sz="20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0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|A U B| = |A| + |B| - |A ∩ B|</a:t>
            </a:r>
            <a:endParaRPr sz="2000" i="0" u="none" strike="noStrike" cap="non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1" name="Google Shape;101;geb4dc8ee4e_1_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33025" y="3229225"/>
            <a:ext cx="4071973" cy="191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eb4dc8ee4e_1_1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Inclusion Exclusion Principle</a:t>
            </a:r>
            <a:endParaRPr/>
          </a:p>
        </p:txBody>
      </p:sp>
      <p:sp>
        <p:nvSpPr>
          <p:cNvPr id="108" name="Google Shape;108;geb4dc8ee4e_1_128"/>
          <p:cNvSpPr txBox="1"/>
          <p:nvPr/>
        </p:nvSpPr>
        <p:spPr>
          <a:xfrm>
            <a:off x="304800" y="1028700"/>
            <a:ext cx="8534400" cy="16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18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Example:</a:t>
            </a:r>
            <a:r>
              <a:rPr lang="en-US"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How many </a:t>
            </a:r>
            <a:r>
              <a:rPr lang="en-US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bit strings</a:t>
            </a:r>
            <a:r>
              <a:rPr lang="en-US" sz="18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of length 8 </a:t>
            </a:r>
            <a:r>
              <a:rPr lang="en-US"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start with a bit </a:t>
            </a:r>
            <a:r>
              <a:rPr lang="en-US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-US"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or end with </a:t>
            </a:r>
            <a:r>
              <a:rPr lang="en-US" sz="18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00</a:t>
            </a:r>
            <a:r>
              <a:rPr lang="en-US"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 sz="18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easy to count </a:t>
            </a:r>
            <a:r>
              <a:rPr lang="en-US" sz="1800" b="1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strings that start with 1</a:t>
            </a:r>
            <a:r>
              <a:rPr lang="en-US" sz="18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-US"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many are there? </a:t>
            </a:r>
            <a:r>
              <a:rPr lang="en-US" sz="18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1800" i="0" u="none" strike="noStrike" cap="none" baseline="30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sz="18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easy to count the </a:t>
            </a:r>
            <a:r>
              <a:rPr lang="en-US" sz="1800" b="1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strings that end with 00.</a:t>
            </a: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many are there? </a:t>
            </a:r>
            <a:r>
              <a:rPr lang="en-US" sz="18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1800" i="0" u="none" strike="noStrike" cap="none" baseline="30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18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1800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800" i="0" u="none" strike="noStrike" cap="non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Is it OK to add the two numbers to get the answer? </a:t>
            </a:r>
            <a:r>
              <a:rPr lang="en-US" sz="18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1800" i="0" u="none" strike="noStrike" cap="none" baseline="30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r>
              <a:rPr lang="en-US" sz="180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+ 2</a:t>
            </a:r>
            <a:r>
              <a:rPr lang="en-US" sz="1800" i="0" u="none" strike="noStrike" cap="none" baseline="30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18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geb4dc8ee4e_1_128"/>
          <p:cNvSpPr txBox="1"/>
          <p:nvPr/>
        </p:nvSpPr>
        <p:spPr>
          <a:xfrm>
            <a:off x="304800" y="2695675"/>
            <a:ext cx="8423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18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No. Overcount. </a:t>
            </a: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There are some strings that can both start with 1</a:t>
            </a:r>
            <a:r>
              <a:rPr lang="en-US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end with 00. These strings are counted in twice.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geb4dc8ee4e_1_128"/>
          <p:cNvSpPr txBox="1"/>
          <p:nvPr/>
        </p:nvSpPr>
        <p:spPr>
          <a:xfrm>
            <a:off x="304800" y="3495650"/>
            <a:ext cx="8058000" cy="16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How to deal with it? How to correct for overlap?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many of strings were counted twice? </a:t>
            </a:r>
            <a:r>
              <a:rPr lang="en-US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1800" baseline="30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(1 </a:t>
            </a:r>
            <a:r>
              <a:rPr lang="en-US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xxxxx</a:t>
            </a: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00)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Thus we can correct for the overlap simply by using: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1800" baseline="30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r>
              <a:rPr lang="en-US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+ 2</a:t>
            </a:r>
            <a:r>
              <a:rPr lang="en-US" sz="1800" baseline="30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lang="en-US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– 2</a:t>
            </a:r>
            <a:r>
              <a:rPr lang="en-US" sz="1800" baseline="30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-US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= 128+ 64-32 = </a:t>
            </a:r>
            <a:r>
              <a:rPr lang="en-US" sz="18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160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Pigeonhole principle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304800" y="1028700"/>
            <a:ext cx="8534400" cy="23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Assume you have a set of objects and a set of bins used to store objects.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pigeonhole principle states that if there are </a:t>
            </a: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more objects 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than bins 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then there is at least one bin with more than one object.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16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Example: 7</a:t>
            </a: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balls and </a:t>
            </a: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bins to store them</a:t>
            </a:r>
            <a:endParaRPr sz="2000" b="1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50" y="3565075"/>
            <a:ext cx="3864769" cy="1207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 rotWithShape="1">
          <a:blip r:embed="rId4">
            <a:alphaModFix/>
          </a:blip>
          <a:srcRect l="4641" r="13505"/>
          <a:stretch/>
        </p:blipFill>
        <p:spPr>
          <a:xfrm>
            <a:off x="4328400" y="3565075"/>
            <a:ext cx="4630700" cy="120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1659900" y="2925300"/>
            <a:ext cx="5824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At least one bin with more than 1 ball exists.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Pigeonhole principle</a:t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304800" y="1028700"/>
            <a:ext cx="85344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Roboto"/>
              <a:buChar char="●"/>
            </a:pPr>
            <a:r>
              <a:rPr lang="en-US" sz="26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Theorem</a:t>
            </a:r>
            <a:r>
              <a:rPr lang="en-US" sz="26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If there are </a:t>
            </a:r>
            <a:r>
              <a:rPr lang="en-US" sz="26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k+1 objects </a:t>
            </a:r>
            <a:r>
              <a:rPr lang="en-US" sz="26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lang="en-US" sz="26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k bins</a:t>
            </a:r>
            <a:r>
              <a:rPr lang="en-US" sz="26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Then there is at least one bin with two or more objects.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159800" y="3194250"/>
            <a:ext cx="8892000" cy="1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Proof. (</a:t>
            </a:r>
            <a:r>
              <a:rPr lang="en-US" sz="21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by contradiction</a:t>
            </a:r>
            <a:r>
              <a:rPr lang="en-US" sz="2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Assume that we have </a:t>
            </a:r>
            <a:r>
              <a:rPr lang="en-US" sz="21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k + 1 </a:t>
            </a:r>
            <a:r>
              <a:rPr lang="en-U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objects and every bin has at most </a:t>
            </a:r>
            <a:r>
              <a:rPr lang="en-US" sz="21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one element</a:t>
            </a:r>
            <a:r>
              <a:rPr lang="en-U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Then the total number of elements is </a:t>
            </a:r>
            <a:r>
              <a:rPr lang="en-US" sz="21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-U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which is a contradiction.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End of proof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6975" y="2105875"/>
            <a:ext cx="5897915" cy="108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Pigeonhole principle</a:t>
            </a:r>
            <a:endParaRPr/>
          </a:p>
        </p:txBody>
      </p:sp>
      <p:sp>
        <p:nvSpPr>
          <p:cNvPr id="136" name="Google Shape;136;p19"/>
          <p:cNvSpPr txBox="1"/>
          <p:nvPr/>
        </p:nvSpPr>
        <p:spPr>
          <a:xfrm>
            <a:off x="304800" y="1028700"/>
            <a:ext cx="8713200" cy="30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Example: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Assume </a:t>
            </a:r>
            <a:r>
              <a:rPr lang="en-US" sz="24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367</a:t>
            </a: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people. Are there any </a:t>
            </a:r>
            <a:r>
              <a:rPr lang="en-US" sz="24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two people </a:t>
            </a: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who has the same birthday?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many days are in the year? </a:t>
            </a:r>
            <a:r>
              <a:rPr lang="en-US" sz="24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365</a:t>
            </a: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Then there must be at </a:t>
            </a:r>
            <a:r>
              <a:rPr lang="en-US" sz="24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least two people </a:t>
            </a: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with the same birthday.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Generalized Pigeonhole principle</a:t>
            </a:r>
            <a:endParaRPr/>
          </a:p>
        </p:txBody>
      </p:sp>
      <p:sp>
        <p:nvSpPr>
          <p:cNvPr id="143" name="Google Shape;143;p20"/>
          <p:cNvSpPr txBox="1"/>
          <p:nvPr/>
        </p:nvSpPr>
        <p:spPr>
          <a:xfrm>
            <a:off x="304800" y="1028700"/>
            <a:ext cx="8534400" cy="30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can often say more about the number of objects.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Say we have </a:t>
            </a:r>
            <a:r>
              <a:rPr lang="en-US" sz="24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5 bins </a:t>
            </a: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lang="en-US" sz="24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-US" sz="24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24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objects</a:t>
            </a: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What is it we can say about the bins and number of elements they hold?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There must be </a:t>
            </a:r>
            <a:r>
              <a:rPr lang="en-US" sz="24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 bin with at least 3 elements</a:t>
            </a:r>
            <a:r>
              <a:rPr lang="en-US" sz="24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-US" sz="24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Why?</a:t>
            </a:r>
            <a:endParaRPr sz="2400" i="0" u="non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304800" y="3656450"/>
            <a:ext cx="82446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Assume there is </a:t>
            </a:r>
            <a:r>
              <a:rPr lang="en-US" sz="2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no bin with more than 2 elements</a:t>
            </a:r>
            <a:r>
              <a:rPr lang="en-US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Then the max number of elements we can have in </a:t>
            </a:r>
            <a:r>
              <a:rPr lang="en-US" sz="2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5 bins is 10</a:t>
            </a:r>
            <a:r>
              <a:rPr lang="en-US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We need to place </a:t>
            </a:r>
            <a:r>
              <a:rPr lang="en-US" sz="2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12</a:t>
            </a:r>
            <a:r>
              <a:rPr lang="en-US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so at least one bin should have at least </a:t>
            </a:r>
            <a:r>
              <a:rPr lang="en-US" sz="2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-US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elements.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Generalized Pigeonhole principle</a:t>
            </a:r>
            <a:endParaRPr/>
          </a:p>
        </p:txBody>
      </p:sp>
      <p:sp>
        <p:nvSpPr>
          <p:cNvPr id="151" name="Google Shape;151;p21"/>
          <p:cNvSpPr txBox="1"/>
          <p:nvPr/>
        </p:nvSpPr>
        <p:spPr>
          <a:xfrm>
            <a:off x="304800" y="1028700"/>
            <a:ext cx="85344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Theorem. </a:t>
            </a:r>
            <a:r>
              <a:rPr lang="en-US" sz="24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</a:t>
            </a:r>
            <a:r>
              <a:rPr lang="en-US" sz="2400" b="1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 objects are placed into k bins then there is at least </a:t>
            </a: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one bin containing at least </a:t>
            </a:r>
            <a:r>
              <a:rPr lang="en-US" sz="24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objects.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i="1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Example.</a:t>
            </a:r>
            <a:r>
              <a:rPr lang="en-US" sz="24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Assume </a:t>
            </a:r>
            <a:r>
              <a:rPr lang="en-US" sz="24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100 people</a:t>
            </a: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Can you tell something about the number of people born in the same month.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2" name="Google Shape;15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45425" y="1490925"/>
            <a:ext cx="681036" cy="314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36650" y="3623400"/>
            <a:ext cx="1885949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/>
          <p:cNvSpPr txBox="1"/>
          <p:nvPr/>
        </p:nvSpPr>
        <p:spPr>
          <a:xfrm>
            <a:off x="409975" y="3128975"/>
            <a:ext cx="7343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lang="en-US" sz="24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Yes</a:t>
            </a:r>
            <a:r>
              <a:rPr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There exists a month in which at least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=                                   people were born.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ebe19b92d7_0_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Generalized Pigeonhole principle</a:t>
            </a:r>
            <a:endParaRPr/>
          </a:p>
        </p:txBody>
      </p:sp>
      <p:sp>
        <p:nvSpPr>
          <p:cNvPr id="161" name="Google Shape;161;gebe19b92d7_0_0"/>
          <p:cNvSpPr txBox="1"/>
          <p:nvPr/>
        </p:nvSpPr>
        <p:spPr>
          <a:xfrm>
            <a:off x="179000" y="1036100"/>
            <a:ext cx="8687100" cy="39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Theorem. </a:t>
            </a:r>
            <a:r>
              <a:rPr lang="en-US" sz="24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</a:t>
            </a:r>
            <a:r>
              <a:rPr lang="en-US" sz="2400" b="1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 objects are placed into k bins then there is at least </a:t>
            </a: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one bin containing at least </a:t>
            </a:r>
            <a:r>
              <a:rPr lang="en-US" sz="24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objects.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i="1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Example</a:t>
            </a:r>
            <a:r>
              <a:rPr lang="en-US" sz="20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is the minimum number of students required in a discrete mathematics class to be sure that at least six will receive the same grades, (A,B,C,D and F)?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Solution: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6 = ceiling(N/5)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Formula: N 	= k ( r - 1 ) + 1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		= 5 ( 6 - 1 ) + 1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		= 26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2" name="Google Shape;162;gebe19b92d7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27000" y="1505725"/>
            <a:ext cx="681036" cy="31432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ebe19b92d7_0_0"/>
          <p:cNvSpPr txBox="1"/>
          <p:nvPr/>
        </p:nvSpPr>
        <p:spPr>
          <a:xfrm>
            <a:off x="4840075" y="3515350"/>
            <a:ext cx="3715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Roboto"/>
                <a:ea typeface="Roboto"/>
                <a:cs typeface="Roboto"/>
                <a:sym typeface="Roboto"/>
              </a:rPr>
              <a:t>N = total number of objects.</a:t>
            </a:r>
            <a:endParaRPr sz="2000"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Roboto"/>
                <a:ea typeface="Roboto"/>
                <a:cs typeface="Roboto"/>
                <a:sym typeface="Roboto"/>
              </a:rPr>
              <a:t>k = number of bins.</a:t>
            </a:r>
            <a:endParaRPr sz="2000"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Roboto"/>
                <a:ea typeface="Roboto"/>
                <a:cs typeface="Roboto"/>
                <a:sym typeface="Roboto"/>
              </a:rPr>
              <a:t>r = number of at least objects.</a:t>
            </a:r>
            <a:endParaRPr sz="2000"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Permutations</a:t>
            </a:r>
            <a:endParaRPr/>
          </a:p>
        </p:txBody>
      </p:sp>
      <p:sp>
        <p:nvSpPr>
          <p:cNvPr id="170" name="Google Shape;170;p22"/>
          <p:cNvSpPr txBox="1"/>
          <p:nvPr/>
        </p:nvSpPr>
        <p:spPr>
          <a:xfrm>
            <a:off x="210225" y="1028700"/>
            <a:ext cx="8628900" cy="3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-US" sz="22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permutation</a:t>
            </a: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of a set of </a:t>
            </a:r>
            <a:r>
              <a:rPr lang="en-US" sz="22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distinct</a:t>
            </a: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objects is an </a:t>
            </a:r>
            <a:r>
              <a:rPr lang="en-US" sz="22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ordered</a:t>
            </a:r>
            <a:r>
              <a:rPr lang="en-US" sz="22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arrangement of the objects. 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2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Since the </a:t>
            </a:r>
            <a:r>
              <a:rPr lang="en-US" sz="22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objects are distinct, they cannot be selected more than once</a:t>
            </a: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Furthermore, the order of the arrangement matters.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2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Example: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Assume we have a set S with n elements. S={a,b,c}.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2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Permutations of S: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 b c   a c b    b a c    b c a    c a b    c b a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Number of Permutations</a:t>
            </a:r>
            <a:endParaRPr/>
          </a:p>
        </p:txBody>
      </p:sp>
      <p:sp>
        <p:nvSpPr>
          <p:cNvPr id="177" name="Google Shape;177;p23"/>
          <p:cNvSpPr txBox="1"/>
          <p:nvPr/>
        </p:nvSpPr>
        <p:spPr>
          <a:xfrm>
            <a:off x="304800" y="1028700"/>
            <a:ext cx="8534400" cy="4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Assume we have a set S with n elements. 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S={a</a:t>
            </a:r>
            <a:r>
              <a:rPr lang="en-US" sz="2000" i="0" u="none" baseline="-25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a</a:t>
            </a:r>
            <a:r>
              <a:rPr lang="en-US" sz="2000" i="0" u="none" baseline="-25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… a</a:t>
            </a:r>
            <a:r>
              <a:rPr lang="en-US" sz="2000" i="0" u="none" baseline="-25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}.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Question: </a:t>
            </a: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How many different permutations are there?</a:t>
            </a:r>
            <a:endParaRPr sz="2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b="1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how many different ways we can choose the first element of the permutation? </a:t>
            </a: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(either a</a:t>
            </a:r>
            <a:r>
              <a:rPr lang="en-US" sz="2000" b="1" i="0" u="none" baseline="-25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or a</a:t>
            </a:r>
            <a:r>
              <a:rPr lang="en-US" sz="2000" b="1" i="0" u="none" baseline="-25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… or a</a:t>
            </a:r>
            <a:r>
              <a:rPr lang="en-US" sz="2000" b="1" i="0" u="none" baseline="-25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)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Assume we picked a</a:t>
            </a:r>
            <a:r>
              <a:rPr lang="en-US" sz="2000" b="1" i="0" u="none" baseline="-25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000" b="1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how many different ways we can choose the remaining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elements? </a:t>
            </a: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n-1</a:t>
            </a: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(either a</a:t>
            </a:r>
            <a:r>
              <a:rPr lang="en-US" sz="2000" b="1" i="0" u="none" baseline="-25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or a</a:t>
            </a:r>
            <a:r>
              <a:rPr lang="en-US" sz="2000" b="1" i="0" u="none" baseline="-25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… or a</a:t>
            </a:r>
            <a:r>
              <a:rPr lang="en-US" sz="2000" b="1" i="0" u="none" baseline="-25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but not a</a:t>
            </a:r>
            <a:r>
              <a:rPr lang="en-US" sz="2000" b="1" i="0" u="none" baseline="-25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Assume we picked a</a:t>
            </a:r>
            <a:r>
              <a:rPr lang="en-US" sz="2000" b="1" i="0" u="none" baseline="-25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j</a:t>
            </a: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In how many different ways we can choose the remaining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elements? </a:t>
            </a: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n-2</a:t>
            </a: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(either a</a:t>
            </a:r>
            <a:r>
              <a:rPr lang="en-US" sz="2000" b="1" i="0" u="none" baseline="-25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or a</a:t>
            </a:r>
            <a:r>
              <a:rPr lang="en-US" sz="2000" b="1" i="0" u="none" baseline="-25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… or a</a:t>
            </a:r>
            <a:r>
              <a:rPr lang="en-US" sz="2000" b="1" i="0" u="none" baseline="-25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but not a</a:t>
            </a:r>
            <a:r>
              <a:rPr lang="en-US" sz="2000" b="1" i="0" u="none" baseline="-25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not a</a:t>
            </a:r>
            <a:r>
              <a:rPr lang="en-US" sz="2000" b="1" i="0" u="none" baseline="-25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</a:t>
            </a: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P(n,n) = n.(n-1)(n-2)…1 = n!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Number of Permutations</a:t>
            </a:r>
            <a:endParaRPr/>
          </a:p>
        </p:txBody>
      </p:sp>
      <p:sp>
        <p:nvSpPr>
          <p:cNvPr id="184" name="Google Shape;184;p24"/>
          <p:cNvSpPr txBox="1"/>
          <p:nvPr/>
        </p:nvSpPr>
        <p:spPr>
          <a:xfrm>
            <a:off x="304800" y="1028700"/>
            <a:ext cx="85344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Example 1.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many permutations of letters {a,b,c} are there?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permutations is: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P(n,n) =P(3,3) =3! = 6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i="1" u="non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Verify: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abc   acb   bac   bca   cab   cba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Number of Permutations</a:t>
            </a:r>
            <a:endParaRPr/>
          </a:p>
        </p:txBody>
      </p:sp>
      <p:sp>
        <p:nvSpPr>
          <p:cNvPr id="191" name="Google Shape;191;p25"/>
          <p:cNvSpPr txBox="1"/>
          <p:nvPr/>
        </p:nvSpPr>
        <p:spPr>
          <a:xfrm>
            <a:off x="304800" y="1028700"/>
            <a:ext cx="85344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 2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many permutations of letters </a:t>
            </a:r>
            <a:r>
              <a:rPr lang="en-US" sz="24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 B C D E F G H </a:t>
            </a: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contain a substring </a:t>
            </a:r>
            <a:r>
              <a:rPr lang="en-US" sz="24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ABC</a:t>
            </a: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Idea: consider </a:t>
            </a:r>
            <a:r>
              <a:rPr lang="en-US" sz="24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ABC as one </a:t>
            </a:r>
            <a:r>
              <a:rPr lang="en-US" sz="24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element and </a:t>
            </a:r>
            <a:r>
              <a:rPr lang="en-US" sz="24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D,E,F,G,H as other 5 </a:t>
            </a:r>
            <a:r>
              <a:rPr lang="en-US" sz="24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elements</a:t>
            </a: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for the total of 6 elements.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Then we need to count the number of permutation of these </a:t>
            </a: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elements.</a:t>
            </a:r>
            <a:r>
              <a:rPr lang="en-US" sz="2400">
                <a:latin typeface="Roboto"/>
                <a:ea typeface="Roboto"/>
                <a:cs typeface="Roboto"/>
                <a:sym typeface="Roboto"/>
              </a:rPr>
              <a:t>    </a:t>
            </a:r>
            <a:r>
              <a:rPr lang="en-US" sz="24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6! = 720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K-Permutations</a:t>
            </a:r>
            <a:endParaRPr/>
          </a:p>
        </p:txBody>
      </p:sp>
      <p:sp>
        <p:nvSpPr>
          <p:cNvPr id="198" name="Google Shape;198;p27"/>
          <p:cNvSpPr txBox="1"/>
          <p:nvPr/>
        </p:nvSpPr>
        <p:spPr>
          <a:xfrm>
            <a:off x="304800" y="1028700"/>
            <a:ext cx="8534400" cy="38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000" b="1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k-permutation</a:t>
            </a:r>
            <a:r>
              <a:rPr lang="en-US" sz="2000" b="1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an </a:t>
            </a:r>
            <a:r>
              <a:rPr lang="en-US" sz="2000" b="1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ordered</a:t>
            </a:r>
            <a:r>
              <a:rPr lang="en-US" sz="2000" b="1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arrangement of </a:t>
            </a:r>
            <a:r>
              <a:rPr lang="en-US" sz="2000" b="1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k elements </a:t>
            </a:r>
            <a:r>
              <a:rPr lang="en-US" sz="2000" b="1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of a set.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number of </a:t>
            </a:r>
            <a:r>
              <a:rPr lang="en-US" sz="20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k-permutations of a set with n distinct elements 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is: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6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P(n,k) = n(n-1)(n-2)…(n-k+1)= n!/(n-k)!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b="1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Assume we have a set S with n elements. S={a</a:t>
            </a:r>
            <a:r>
              <a:rPr lang="en-US" sz="2000" i="0" u="none" baseline="-25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</a:t>
            </a:r>
            <a:r>
              <a:rPr lang="en-US" sz="2000" i="0" u="none" baseline="-25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… a</a:t>
            </a:r>
            <a:r>
              <a:rPr lang="en-US" sz="2000" i="0" u="none" baseline="-25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1st element of the </a:t>
            </a:r>
            <a:r>
              <a:rPr lang="en-US" sz="20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k-permutation may be any of the </a:t>
            </a:r>
            <a:r>
              <a:rPr lang="en-US" sz="2000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elements in the set.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2nd element of the </a:t>
            </a:r>
            <a:r>
              <a:rPr lang="en-US" sz="20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k-permutation may be any of the </a:t>
            </a:r>
            <a:r>
              <a:rPr lang="en-US" sz="2000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n-1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remaining elements of the set.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so on. For last element of the </a:t>
            </a:r>
            <a:r>
              <a:rPr lang="en-US" sz="20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k-permutation, there are </a:t>
            </a:r>
            <a:r>
              <a:rPr lang="en-US" sz="2000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n-k+1</a:t>
            </a:r>
            <a:r>
              <a:rPr lang="en-US" sz="20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elements remaining to choose from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K-Permutations</a:t>
            </a:r>
            <a:endParaRPr/>
          </a:p>
        </p:txBody>
      </p:sp>
      <p:sp>
        <p:nvSpPr>
          <p:cNvPr id="205" name="Google Shape;205;p28"/>
          <p:cNvSpPr txBox="1"/>
          <p:nvPr/>
        </p:nvSpPr>
        <p:spPr>
          <a:xfrm>
            <a:off x="304800" y="1028700"/>
            <a:ext cx="8534400" cy="30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2-permutations of set {</a:t>
            </a:r>
            <a:r>
              <a:rPr lang="en-US" sz="24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a,b,c} are: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i="1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ab, ac, ba, bc, ca, cb.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i="1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number of 2-permutations of this 3-element set is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P(n,k) = P(3,2) = 6.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Combination</a:t>
            </a:r>
            <a:endParaRPr/>
          </a:p>
        </p:txBody>
      </p:sp>
      <p:sp>
        <p:nvSpPr>
          <p:cNvPr id="212" name="Google Shape;212;p29"/>
          <p:cNvSpPr txBox="1"/>
          <p:nvPr/>
        </p:nvSpPr>
        <p:spPr>
          <a:xfrm>
            <a:off x="304800" y="1028700"/>
            <a:ext cx="8534400" cy="3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-US" sz="2200" b="1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k-combination</a:t>
            </a:r>
            <a:r>
              <a:rPr lang="en-US" sz="2200" b="1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of elements of a set is an </a:t>
            </a:r>
            <a:r>
              <a:rPr lang="en-US" sz="2200" b="1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unordered selection </a:t>
            </a: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of </a:t>
            </a:r>
            <a:r>
              <a:rPr lang="en-US" sz="2200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k elements </a:t>
            </a:r>
            <a:r>
              <a:rPr lang="en-US" sz="22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 the set. 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20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Thus, a k-combination is simply a </a:t>
            </a: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subset of the set with </a:t>
            </a:r>
            <a:r>
              <a:rPr lang="en-US" sz="22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 elements.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200" b="1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Example:</a:t>
            </a:r>
            <a:r>
              <a:rPr lang="en-US" sz="22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2-combinations of the set {a,b,c}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2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b   a c    b c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2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2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 b</a:t>
            </a: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covers </a:t>
            </a:r>
            <a:r>
              <a:rPr lang="en-US" sz="22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2-permutations</a:t>
            </a: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22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 b </a:t>
            </a:r>
            <a:r>
              <a:rPr lang="en-US" sz="22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lang="en-US" sz="22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b a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Combination</a:t>
            </a:r>
            <a:endParaRPr/>
          </a:p>
        </p:txBody>
      </p:sp>
      <p:sp>
        <p:nvSpPr>
          <p:cNvPr id="219" name="Google Shape;219;p31"/>
          <p:cNvSpPr txBox="1"/>
          <p:nvPr/>
        </p:nvSpPr>
        <p:spPr>
          <a:xfrm>
            <a:off x="304800" y="1028700"/>
            <a:ext cx="85344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Theorem: 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number of </a:t>
            </a:r>
            <a:r>
              <a:rPr lang="en-US" sz="2000" i="1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k-combinations</a:t>
            </a:r>
            <a:r>
              <a:rPr lang="en-US" sz="20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of a set with n distinct 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elements, where </a:t>
            </a:r>
            <a:r>
              <a:rPr lang="en-US" sz="2000" i="1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 is a positive integer and k is an integer with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i="1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i="1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i="1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0" name="Google Shape;220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33550" y="1390075"/>
            <a:ext cx="115848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58104" y="1810325"/>
            <a:ext cx="2673574" cy="9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 txBox="1"/>
          <p:nvPr/>
        </p:nvSpPr>
        <p:spPr>
          <a:xfrm>
            <a:off x="487575" y="2780875"/>
            <a:ext cx="82110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Proof:</a:t>
            </a:r>
            <a:r>
              <a:rPr lang="en-US" sz="2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lang="en-US" sz="20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k-permutations of the set can be obtained by first</a:t>
            </a:r>
            <a:r>
              <a:rPr lang="en-US" sz="2000" b="1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forming the </a:t>
            </a:r>
            <a:r>
              <a:rPr lang="en-US" sz="20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C(n,k) k-combinations of the set, and then ordering 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elements in each </a:t>
            </a:r>
            <a:r>
              <a:rPr lang="en-US" sz="20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k-combination, which can be done in P(k,k) 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ways. Consequently,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000" i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P(n,k) = C(n,k) * P(k,k).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implies that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i="1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000" i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C(n,k) = P(n,k) / P(k,k) = P(n,k) / k! = n! / (k! (n-k)!)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Combination</a:t>
            </a:r>
            <a:endParaRPr/>
          </a:p>
        </p:txBody>
      </p:sp>
      <p:sp>
        <p:nvSpPr>
          <p:cNvPr id="229" name="Google Shape;229;p34"/>
          <p:cNvSpPr txBox="1"/>
          <p:nvPr/>
        </p:nvSpPr>
        <p:spPr>
          <a:xfrm>
            <a:off x="304800" y="1028700"/>
            <a:ext cx="86868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Intuition (example): 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Assume elements A1, A2, A3, A4 and A5 in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set. All 3-combinations of elements are: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34"/>
          <p:cNvSpPr txBox="1"/>
          <p:nvPr/>
        </p:nvSpPr>
        <p:spPr>
          <a:xfrm>
            <a:off x="5429375" y="1714500"/>
            <a:ext cx="3269400" cy="25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Each combination cover many 3-permutations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18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A1 A2 A3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A1 A3 A2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A2 A1 A3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A2 A3 A1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A3 A1 A2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8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A3 A2 A1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34"/>
          <p:cNvSpPr txBox="1"/>
          <p:nvPr/>
        </p:nvSpPr>
        <p:spPr>
          <a:xfrm>
            <a:off x="533400" y="1714500"/>
            <a:ext cx="2819400" cy="3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A1 A2 A3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A1 A2 A4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A1 A2 A5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A1 A3 A4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A1 A3 A5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A1 A4 A5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A2 A3 A4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A2 A3 A5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A2 A4 A5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A3 A4 A5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19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Total of 10.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2" name="Google Shape;232;p34"/>
          <p:cNvCxnSpPr/>
          <p:nvPr/>
        </p:nvCxnSpPr>
        <p:spPr>
          <a:xfrm>
            <a:off x="2049550" y="1892675"/>
            <a:ext cx="3354600" cy="885900"/>
          </a:xfrm>
          <a:prstGeom prst="straightConnector1">
            <a:avLst/>
          </a:prstGeom>
          <a:noFill/>
          <a:ln w="57150" cap="flat" cmpd="sng">
            <a:solidFill>
              <a:srgbClr val="00B050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233" name="Google Shape;233;p34"/>
          <p:cNvSpPr txBox="1"/>
          <p:nvPr/>
        </p:nvSpPr>
        <p:spPr>
          <a:xfrm>
            <a:off x="3742200" y="4300500"/>
            <a:ext cx="4038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1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So: P(5,3) = C(5,3) P(3,3)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1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and: C(5,3) = P(5,3)/P(3,3)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Combination</a:t>
            </a:r>
            <a:endParaRPr/>
          </a:p>
        </p:txBody>
      </p:sp>
      <p:sp>
        <p:nvSpPr>
          <p:cNvPr id="240" name="Google Shape;240;p35"/>
          <p:cNvSpPr txBox="1"/>
          <p:nvPr/>
        </p:nvSpPr>
        <p:spPr>
          <a:xfrm>
            <a:off x="228600" y="1200150"/>
            <a:ext cx="86868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2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Example: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need to create a team of 5 player for the </a:t>
            </a:r>
            <a:r>
              <a:rPr lang="en-US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competition</a:t>
            </a: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out of 10 team members. How many different teams is it possible to</a:t>
            </a:r>
            <a:r>
              <a:rPr lang="en-US" sz="22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2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create?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5"/>
          <p:cNvSpPr txBox="1"/>
          <p:nvPr/>
        </p:nvSpPr>
        <p:spPr>
          <a:xfrm>
            <a:off x="228600" y="2335025"/>
            <a:ext cx="83274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2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When creating a team we do not care about the order in which players were picked. It is important that the player is in.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Because of that we need to consider unordered sets of combinations.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C(10,5) = 10!/(10-5)!5! = </a:t>
            </a:r>
            <a:r>
              <a:rPr lang="en-US" sz="22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252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Combination</a:t>
            </a:r>
            <a:endParaRPr/>
          </a:p>
        </p:txBody>
      </p:sp>
      <p:sp>
        <p:nvSpPr>
          <p:cNvPr id="248" name="Google Shape;248;p36"/>
          <p:cNvSpPr txBox="1"/>
          <p:nvPr/>
        </p:nvSpPr>
        <p:spPr>
          <a:xfrm>
            <a:off x="228600" y="1200150"/>
            <a:ext cx="8686800" cy="3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Corollary</a:t>
            </a:r>
            <a:r>
              <a:rPr lang="en-US" sz="26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2600"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lang="en-US" sz="26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C(n,k) = C(n,n-k)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6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Example: C(5,2) = C(5,3)</a:t>
            </a:r>
            <a:endParaRPr sz="2600" b="1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600" b="1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6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Proof.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6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C(n,k) 	= n! / (n-k)! k!</a:t>
            </a:r>
            <a:endParaRPr sz="2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6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	= n!/ (n-k)! (n – (n-k))!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6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	= C(n,n-k)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eae8f48d81_0_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Caesar Cipher</a:t>
            </a:r>
            <a:endParaRPr/>
          </a:p>
        </p:txBody>
      </p:sp>
      <p:sp>
        <p:nvSpPr>
          <p:cNvPr id="255" name="Google Shape;255;geae8f48d81_0_20"/>
          <p:cNvSpPr txBox="1">
            <a:spLocks noGrp="1"/>
          </p:cNvSpPr>
          <p:nvPr>
            <p:ph type="body" idx="1"/>
          </p:nvPr>
        </p:nvSpPr>
        <p:spPr>
          <a:xfrm>
            <a:off x="800100" y="1129550"/>
            <a:ext cx="7543800" cy="2106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Earliest known substitution cipher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By Julius Caesar 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First attested use in military affairs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b="1"/>
              <a:t>Example: </a:t>
            </a:r>
            <a:r>
              <a:rPr lang="en-US"/>
              <a:t>replace each letter by 3rd letter on</a:t>
            </a:r>
            <a:endParaRPr/>
          </a:p>
          <a:p>
            <a:pPr marL="1828800" lvl="3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f (a) = (a+3) mod 26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ENCRYPTION DECRYPTION</a:t>
            </a:r>
            <a:endParaRPr/>
          </a:p>
        </p:txBody>
      </p:sp>
      <p:graphicFrame>
        <p:nvGraphicFramePr>
          <p:cNvPr id="256" name="Google Shape;256;geae8f48d81_0_20"/>
          <p:cNvGraphicFramePr/>
          <p:nvPr/>
        </p:nvGraphicFramePr>
        <p:xfrm>
          <a:off x="852475" y="3622900"/>
          <a:ext cx="7439025" cy="786324"/>
        </p:xfrm>
        <a:graphic>
          <a:graphicData uri="http://schemas.openxmlformats.org/drawingml/2006/table">
            <a:tbl>
              <a:tblPr>
                <a:noFill/>
                <a:tableStyleId>{95E10CF1-9832-444A-8D2A-12A77D7739DB}</a:tableStyleId>
              </a:tblPr>
              <a:tblGrid>
                <a:gridCol w="3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endParaRPr sz="1200" b="1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m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t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m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t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t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h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t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y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 b="1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H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H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W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H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I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W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H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U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W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K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H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U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W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eae8f48d81_0_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Caesar Cipher</a:t>
            </a:r>
            <a:endParaRPr/>
          </a:p>
        </p:txBody>
      </p:sp>
      <p:sp>
        <p:nvSpPr>
          <p:cNvPr id="263" name="Google Shape;263;geae8f48d81_0_30"/>
          <p:cNvSpPr txBox="1">
            <a:spLocks noGrp="1"/>
          </p:cNvSpPr>
          <p:nvPr>
            <p:ph type="body" idx="1"/>
          </p:nvPr>
        </p:nvSpPr>
        <p:spPr>
          <a:xfrm>
            <a:off x="353100" y="1151950"/>
            <a:ext cx="8437800" cy="3623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74650" algn="l" rtl="0">
              <a:spcBef>
                <a:spcPts val="480"/>
              </a:spcBef>
              <a:spcAft>
                <a:spcPts val="0"/>
              </a:spcAft>
              <a:buSzPts val="2300"/>
              <a:buFont typeface="Roboto"/>
              <a:buChar char="•"/>
            </a:pPr>
            <a:r>
              <a:rPr lang="en-US" sz="2300" b="1">
                <a:latin typeface="Roboto"/>
                <a:ea typeface="Roboto"/>
                <a:cs typeface="Roboto"/>
                <a:sym typeface="Roboto"/>
              </a:rPr>
              <a:t>can define transformation as:</a:t>
            </a:r>
            <a:endParaRPr sz="2300" b="1">
              <a:latin typeface="Roboto"/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</a:pPr>
            <a:r>
              <a:rPr lang="en-US" sz="2000" b="1">
                <a:latin typeface="Roboto"/>
                <a:ea typeface="Roboto"/>
                <a:cs typeface="Roboto"/>
                <a:sym typeface="Roboto"/>
              </a:rPr>
              <a:t>a b c d e f g h i j k l m n o p q r s t u v w x y z</a:t>
            </a:r>
            <a:endParaRPr sz="2000" b="1"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</a:pPr>
            <a:r>
              <a:rPr lang="en-US" sz="1700" b="1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D E F G H I J K L M N O P Q R S T U V W X Y Z A B C</a:t>
            </a:r>
            <a:endParaRPr sz="1700" b="1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SzPts val="2300"/>
              <a:buFont typeface="Roboto"/>
              <a:buChar char="•"/>
            </a:pPr>
            <a:r>
              <a:rPr lang="en-US" sz="2300" b="1">
                <a:latin typeface="Roboto"/>
                <a:ea typeface="Roboto"/>
                <a:cs typeface="Roboto"/>
                <a:sym typeface="Roboto"/>
              </a:rPr>
              <a:t>mathematically give each letter a number</a:t>
            </a:r>
            <a:endParaRPr sz="2300" b="1"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</a:pPr>
            <a:r>
              <a:rPr lang="en-US" sz="2300" b="1">
                <a:latin typeface="Roboto"/>
                <a:ea typeface="Roboto"/>
                <a:cs typeface="Roboto"/>
                <a:sym typeface="Roboto"/>
              </a:rPr>
              <a:t>a b c d e f g h i j  k  l  m  n  o  p  q  r  s  t  u  v  w  x  y  z</a:t>
            </a:r>
            <a:endParaRPr sz="2300" b="1">
              <a:latin typeface="Roboto"/>
              <a:ea typeface="Roboto"/>
              <a:cs typeface="Roboto"/>
              <a:sym typeface="Roboto"/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•"/>
            </a:pPr>
            <a:r>
              <a:rPr lang="en-US" sz="18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0 1 2 3 4 5 6 7 8 9 10 11 12 13 14 15 16 17 18 19 20 21 22 23 24 25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Font typeface="Roboto"/>
              <a:buChar char="•"/>
            </a:pPr>
            <a:r>
              <a:rPr lang="en-US" sz="2200" b="1">
                <a:latin typeface="Roboto"/>
                <a:ea typeface="Roboto"/>
                <a:cs typeface="Roboto"/>
                <a:sym typeface="Roboto"/>
              </a:rPr>
              <a:t>then have Caesar cipher as:</a:t>
            </a:r>
            <a:endParaRPr sz="2200" b="1">
              <a:latin typeface="Roboto"/>
              <a:ea typeface="Roboto"/>
              <a:cs typeface="Roboto"/>
              <a:sym typeface="Roboto"/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•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cipher text, c = Encryption(p) = (p + k) mod (26)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914400" lvl="1" indent="-34925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•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plain text, p   = Decryption(c) = (c – k) mod (26)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 b="1">
                <a:latin typeface="Roboto"/>
                <a:ea typeface="Roboto"/>
                <a:cs typeface="Roboto"/>
                <a:sym typeface="Roboto"/>
              </a:rPr>
              <a:t>Example:</a:t>
            </a:r>
            <a:r>
              <a:rPr lang="en-US" sz="2200">
                <a:latin typeface="Roboto"/>
                <a:ea typeface="Roboto"/>
                <a:cs typeface="Roboto"/>
                <a:sym typeface="Roboto"/>
              </a:rPr>
              <a:t> Apply caesar cipher with k = 2 in the plain text “HELLO”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8"/>
          <p:cNvSpPr txBox="1">
            <a:spLocks noGrp="1"/>
          </p:cNvSpPr>
          <p:nvPr>
            <p:ph type="title"/>
          </p:nvPr>
        </p:nvSpPr>
        <p:spPr>
          <a:xfrm>
            <a:off x="0" y="104045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Beyond basic counting rules</a:t>
            </a:r>
            <a:endParaRPr/>
          </a:p>
        </p:txBody>
      </p:sp>
      <p:sp>
        <p:nvSpPr>
          <p:cNvPr id="277" name="Google Shape;277;p38"/>
          <p:cNvSpPr txBox="1"/>
          <p:nvPr/>
        </p:nvSpPr>
        <p:spPr>
          <a:xfrm>
            <a:off x="304800" y="1833209"/>
            <a:ext cx="8534400" cy="28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More complex </a:t>
            </a: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counting problems typically require a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combination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of the sum and product rules.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Example: A login password: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minimum password length 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6 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the 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maximum is 8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The password can consist of either an uppercase letter or a digit. There must be at least 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one digit 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the password.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How many different passwords are there?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38"/>
          <p:cNvSpPr txBox="1"/>
          <p:nvPr/>
        </p:nvSpPr>
        <p:spPr>
          <a:xfrm>
            <a:off x="0" y="5715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Extra Topic for Students’ reading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Beyond basic counting rules</a:t>
            </a:r>
            <a:endParaRPr/>
          </a:p>
        </p:txBody>
      </p:sp>
      <p:sp>
        <p:nvSpPr>
          <p:cNvPr id="285" name="Google Shape;285;p41"/>
          <p:cNvSpPr txBox="1"/>
          <p:nvPr/>
        </p:nvSpPr>
        <p:spPr>
          <a:xfrm>
            <a:off x="304800" y="1028700"/>
            <a:ext cx="85344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Step 1:</a:t>
            </a:r>
            <a:endParaRPr sz="2000" b="1" i="0" u="non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password we select has either 6,7 or 8 characters. So the total number of valid passwords is by the sum rule: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 = P6+P7+P8</a:t>
            </a:r>
            <a:endParaRPr sz="2000" i="0" u="non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sz="2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number of passwords of length 6,7 and 8 respectively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i="0" u="none" baseline="30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Step 2: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Assume passwords with 6 characters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(either digits + upper case letters):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How many are there?</a:t>
            </a:r>
            <a:endParaRPr sz="2000" i="0" u="non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we let each character to be at any position we have: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P6-all = (26+10)</a:t>
            </a:r>
            <a:r>
              <a:rPr lang="en-US" sz="2000" i="0" u="none" baseline="30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=(36)</a:t>
            </a:r>
            <a:r>
              <a:rPr lang="en-US" sz="2000" i="0" u="none" baseline="30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different passwords of length 6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Beyond basic counting rules</a:t>
            </a:r>
            <a:endParaRPr/>
          </a:p>
        </p:txBody>
      </p:sp>
      <p:sp>
        <p:nvSpPr>
          <p:cNvPr id="292" name="Google Shape;292;p42"/>
          <p:cNvSpPr txBox="1"/>
          <p:nvPr/>
        </p:nvSpPr>
        <p:spPr>
          <a:xfrm>
            <a:off x="304800" y="1028700"/>
            <a:ext cx="85344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Step 2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But we 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must have a password with at least one digit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How to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account for it?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 trick</a:t>
            </a: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Split the count of all passwords of length 6 into to two mutually exclusive groups: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P6-all = P6-digits + P6-nodigits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P6-digits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count when the password has one or more digits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</a:t>
            </a:r>
            <a:r>
              <a:rPr lang="en-US" sz="2000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P6-nodigits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count when the password has no digits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know how to easily compute P6-all and P6-nodigits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P6-all = 36</a:t>
            </a:r>
            <a:r>
              <a:rPr lang="en-US" sz="2000" b="1" i="0" u="none" baseline="30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6 </a:t>
            </a: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P6-nodigits = 26</a:t>
            </a:r>
            <a:r>
              <a:rPr lang="en-US" sz="2000" b="1" i="0" u="none" baseline="30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Then </a:t>
            </a: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P6-digits = P6-all – P6-nodigits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Beyond basic counting rules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43"/>
          <p:cNvSpPr txBox="1"/>
          <p:nvPr/>
        </p:nvSpPr>
        <p:spPr>
          <a:xfrm>
            <a:off x="304800" y="1028700"/>
            <a:ext cx="85344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1: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total number of valid passwords is by the sum rule: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 = P6+P7+P8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The number of passwords of length 6,7 and 8 respectively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b="1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2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number of valid passwords of length 6: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</a:t>
            </a: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P6= P6-digits = P6-all – P6-nodigits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= 36</a:t>
            </a:r>
            <a:r>
              <a:rPr lang="en-US" sz="2000" b="1" i="0" u="none" baseline="30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–26</a:t>
            </a:r>
            <a:r>
              <a:rPr lang="en-US" sz="2000" b="1" i="0" u="none" baseline="30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000" b="1" i="0" u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Analogically: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P7</a:t>
            </a: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P7-digits = P7-all – P7-nodigits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    </a:t>
            </a: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= 36</a:t>
            </a:r>
            <a:r>
              <a:rPr lang="en-US" sz="2000" b="1" i="0" u="none" baseline="30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–26</a:t>
            </a:r>
            <a:r>
              <a:rPr lang="en-US" sz="2000" b="1" i="0" u="none" baseline="30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P8</a:t>
            </a:r>
            <a:r>
              <a:rPr lang="en-US" sz="2000" b="1" i="0" u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P8-digits = P8-all – P8-nodigits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    </a:t>
            </a: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= 36</a:t>
            </a:r>
            <a:r>
              <a:rPr lang="en-US" sz="2000" b="1" i="0" u="none" baseline="30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8 </a:t>
            </a:r>
            <a:r>
              <a:rPr lang="en-US" sz="2000" b="1" i="0" u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–26</a:t>
            </a:r>
            <a:r>
              <a:rPr lang="en-US" sz="2000" b="1" i="0" u="none" baseline="30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7"/>
          <p:cNvSpPr txBox="1">
            <a:spLocks noGrp="1"/>
          </p:cNvSpPr>
          <p:nvPr>
            <p:ph type="title"/>
          </p:nvPr>
        </p:nvSpPr>
        <p:spPr>
          <a:xfrm>
            <a:off x="0" y="177165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NewsPrint">
  <a:themeElements>
    <a:clrScheme name="NewsPrint">
      <a:dk1>
        <a:srgbClr val="000000"/>
      </a:dk1>
      <a:lt1>
        <a:srgbClr val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NewsPrint">
  <a:themeElements>
    <a:clrScheme name="NewsPrint">
      <a:dk1>
        <a:srgbClr val="000000"/>
      </a:dk1>
      <a:lt1>
        <a:srgbClr val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2809</Words>
  <Application>Microsoft Office PowerPoint</Application>
  <PresentationFormat>On-screen Show (16:9)</PresentationFormat>
  <Paragraphs>389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Roboto</vt:lpstr>
      <vt:lpstr>Times New Roman</vt:lpstr>
      <vt:lpstr>1_NewsPrint</vt:lpstr>
      <vt:lpstr>1_NewsPrint</vt:lpstr>
      <vt:lpstr>Counting</vt:lpstr>
      <vt:lpstr>Basic Counting Rules</vt:lpstr>
      <vt:lpstr>Product Rule</vt:lpstr>
      <vt:lpstr>Product Rule</vt:lpstr>
      <vt:lpstr>Product Rule</vt:lpstr>
      <vt:lpstr>Product Rule</vt:lpstr>
      <vt:lpstr>Sum Rule</vt:lpstr>
      <vt:lpstr>Sum Rule</vt:lpstr>
      <vt:lpstr>Inclusion Exclusion Principle</vt:lpstr>
      <vt:lpstr>Inclusion Exclusion Principle</vt:lpstr>
      <vt:lpstr>Pigeonhole principle</vt:lpstr>
      <vt:lpstr>Pigeonhole principle</vt:lpstr>
      <vt:lpstr>Pigeonhole principle</vt:lpstr>
      <vt:lpstr>Generalized Pigeonhole principle</vt:lpstr>
      <vt:lpstr>Generalized Pigeonhole principle</vt:lpstr>
      <vt:lpstr>Generalized Pigeonhole principle</vt:lpstr>
      <vt:lpstr>Permutations</vt:lpstr>
      <vt:lpstr>Number of Permutations</vt:lpstr>
      <vt:lpstr>Number of Permutations</vt:lpstr>
      <vt:lpstr>Number of Permutations</vt:lpstr>
      <vt:lpstr>K-Permutations</vt:lpstr>
      <vt:lpstr>K-Permutations</vt:lpstr>
      <vt:lpstr>Combination</vt:lpstr>
      <vt:lpstr>Combination</vt:lpstr>
      <vt:lpstr>Combination</vt:lpstr>
      <vt:lpstr>Combination</vt:lpstr>
      <vt:lpstr>Combination</vt:lpstr>
      <vt:lpstr>Caesar Cipher</vt:lpstr>
      <vt:lpstr>Caesar Cipher</vt:lpstr>
      <vt:lpstr>Beyond basic counting rules</vt:lpstr>
      <vt:lpstr>Beyond basic counting rules</vt:lpstr>
      <vt:lpstr>Beyond basic counting rules</vt:lpstr>
      <vt:lpstr>Beyond basic counting rules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Counting</dc:title>
  <dc:creator>Roger Pressman</dc:creator>
  <cp:lastModifiedBy>Acer</cp:lastModifiedBy>
  <cp:revision>2</cp:revision>
  <dcterms:created xsi:type="dcterms:W3CDTF">2011-04-14T19:19:04Z</dcterms:created>
  <dcterms:modified xsi:type="dcterms:W3CDTF">2022-08-21T13:58:10Z</dcterms:modified>
</cp:coreProperties>
</file>