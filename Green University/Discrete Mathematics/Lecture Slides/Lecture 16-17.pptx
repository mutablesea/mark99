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5" r:id="rId28"/>
  </p:sldIdLst>
  <p:sldSz cx="9144000" cy="5143500" type="screen16x9"/>
  <p:notesSz cx="7315200" cy="9601200"/>
  <p:embeddedFontLst>
    <p:embeddedFont>
      <p:font typeface="Roboto" panose="020B0604020202020204" charset="0"/>
      <p:regular r:id="rId30"/>
      <p:bold r:id="rId31"/>
      <p:italic r:id="rId32"/>
      <p:boldItalic r:id="rId33"/>
    </p:embeddedFont>
    <p:embeddedFont>
      <p:font typeface="Times" panose="02020603050405020304" pitchFamily="18" charset="0"/>
      <p:regular r:id="rId34"/>
      <p:bold r:id="rId35"/>
      <p:italic r:id="rId36"/>
      <p:boldItalic r:id="rId37"/>
    </p:embeddedFont>
    <p:embeddedFont>
      <p:font typeface="Impact" panose="020B0806030902050204" pitchFamily="34" charset="0"/>
      <p:regular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2" roundtripDataSignature="AMtx7mgHZFqzlLpxyQ0vsRpWTK/dg0LF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30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6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ec9953bcd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ec9953bcda_0_1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ec9953bcda_0_15:notes"/>
          <p:cNvSpPr txBox="1">
            <a:spLocks noGrp="1"/>
          </p:cNvSpPr>
          <p:nvPr>
            <p:ph type="sldNum" idx="12"/>
          </p:nvPr>
        </p:nvSpPr>
        <p:spPr>
          <a:xfrm>
            <a:off x="4144962" y="9121775"/>
            <a:ext cx="3170100" cy="4794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 sz="1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8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/>
          </a:p>
        </p:txBody>
      </p:sp>
      <p:sp>
        <p:nvSpPr>
          <p:cNvPr id="223" name="Google Shape;223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4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Font typeface="Times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With only 25 possible keys, the Caesar cipher is far from secure. A dramatic increase in the key space can be achieved by allowing an arbitrary substitution, where the translation alphabet can be any permutation of the 26 alphabetic characters.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See example translation alphabet, and an encrypted message using it.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ec9953bcd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ec9953bcda_0_29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0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/>
          </a:p>
        </p:txBody>
      </p:sp>
      <p:sp>
        <p:nvSpPr>
          <p:cNvPr id="236" name="Google Shape;236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5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Illustrate the process with this example from the text in Stallings section 2.2.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3"/>
          <p:cNvSpPr txBox="1">
            <a:spLocks noGrp="1"/>
          </p:cNvSpPr>
          <p:nvPr>
            <p:ph type="body" idx="1"/>
          </p:nvPr>
        </p:nvSpPr>
        <p:spPr>
          <a:xfrm>
            <a:off x="838200" y="1028700"/>
            <a:ext cx="75438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68300" algn="l">
              <a:spcBef>
                <a:spcPts val="440"/>
              </a:spcBef>
              <a:spcAft>
                <a:spcPts val="0"/>
              </a:spcAft>
              <a:buClr>
                <a:srgbClr val="FF0000"/>
              </a:buClr>
              <a:buSzPts val="2200"/>
              <a:buChar char="•"/>
              <a:defRPr>
                <a:solidFill>
                  <a:schemeClr val="dk1"/>
                </a:solidFill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ec9953bcda_0_8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ec9953bcda_0_83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81000" rtl="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68300" rtl="0">
              <a:spcBef>
                <a:spcPts val="440"/>
              </a:spcBef>
              <a:spcAft>
                <a:spcPts val="0"/>
              </a:spcAft>
              <a:buSzPts val="2200"/>
              <a:buChar char="•"/>
              <a:defRPr/>
            </a:lvl2pPr>
            <a:lvl3pPr marL="1371600" lvl="2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5pPr>
            <a:lvl6pPr marL="2743200" lvl="5" indent="-330200" rtl="0">
              <a:spcBef>
                <a:spcPts val="32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rtl="0">
              <a:spcBef>
                <a:spcPts val="32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rtl="0">
              <a:spcBef>
                <a:spcPts val="32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rtl="0">
              <a:spcBef>
                <a:spcPts val="32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gec9953bcda_0_8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2"/>
          <p:cNvSpPr txBox="1"/>
          <p:nvPr/>
        </p:nvSpPr>
        <p:spPr>
          <a:xfrm>
            <a:off x="0" y="994172"/>
            <a:ext cx="9144000" cy="34500"/>
          </a:xfrm>
          <a:prstGeom prst="rect">
            <a:avLst/>
          </a:prstGeom>
          <a:solidFill>
            <a:srgbClr val="018952"/>
          </a:solidFill>
          <a:ln w="22225" cap="flat" cmpd="sng">
            <a:solidFill>
              <a:srgbClr val="0189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52"/>
          <p:cNvSpPr txBox="1"/>
          <p:nvPr/>
        </p:nvSpPr>
        <p:spPr>
          <a:xfrm>
            <a:off x="8610600" y="4800600"/>
            <a:ext cx="533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" name="Google Shape;12;p5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262626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262626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262626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262626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262626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52"/>
          <p:cNvSpPr txBox="1">
            <a:spLocks noGrp="1"/>
          </p:cNvSpPr>
          <p:nvPr>
            <p:ph type="body" idx="1"/>
          </p:nvPr>
        </p:nvSpPr>
        <p:spPr>
          <a:xfrm>
            <a:off x="838200" y="1028700"/>
            <a:ext cx="75438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68300" algn="l" rtl="0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i="0" u="none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Importance of Number Theory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" name="Google Shape;35;p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381000" y="1161925"/>
            <a:ext cx="8458200" cy="38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theory is </a:t>
            </a:r>
            <a:r>
              <a:rPr lang="en-US" sz="18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crucial 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</a:t>
            </a:r>
            <a:r>
              <a:rPr lang="en-US" sz="18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encryption algorithms 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hence</a:t>
            </a: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</a:t>
            </a:r>
            <a:r>
              <a:rPr lang="en-US" sz="18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security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 </a:t>
            </a:r>
            <a:endParaRPr sz="18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Of utmost importance to everyone from Bill Gates, to the CIA, to Osama Bin Laden.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lang="en-US" sz="18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encryption algorithms 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depend heavily on </a:t>
            </a:r>
            <a:r>
              <a:rPr lang="en-US" sz="18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modular arithmetic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8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Machinery (notations and techniques) for </a:t>
            </a:r>
            <a:r>
              <a:rPr lang="en-US" sz="18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manipulating</a:t>
            </a:r>
            <a:r>
              <a:rPr lang="en-US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numbers.</a:t>
            </a:r>
            <a:endParaRPr sz="1800" i="0" u="non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8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100">
                <a:latin typeface="Roboto"/>
                <a:ea typeface="Roboto"/>
                <a:cs typeface="Roboto"/>
                <a:sym typeface="Roboto"/>
              </a:rPr>
              <a:t>Numbers are of two types (PARITY): EVEN</a:t>
            </a:r>
            <a:r>
              <a:rPr lang="en-US" sz="21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(2k)</a:t>
            </a:r>
            <a:r>
              <a:rPr lang="en-US" sz="2100">
                <a:latin typeface="Roboto"/>
                <a:ea typeface="Roboto"/>
                <a:cs typeface="Roboto"/>
                <a:sym typeface="Roboto"/>
              </a:rPr>
              <a:t> or ODD</a:t>
            </a:r>
            <a:r>
              <a:rPr lang="en-US" sz="21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(2k - 1)</a:t>
            </a:r>
            <a:endParaRPr sz="2100" b="1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529025" y="3618950"/>
            <a:ext cx="4262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Even + Even = Even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Even + Odd  = Odd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Odd  + Odd  = Even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4366450" y="3618950"/>
            <a:ext cx="4262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Even X Even = Even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Even X Odd  = Even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Odd  X Odd  = Odd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i="0" u="none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Divisors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685800" y="12001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3050" lvl="0" indent="-2730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DEF:  Let </a:t>
            </a:r>
            <a:r>
              <a:rPr lang="en-US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lang="en-US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 integers such that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ctr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= 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b ·c </a:t>
            </a:r>
            <a:endParaRPr i="0" u="non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400"/>
              <a:buFont typeface="Roboto"/>
              <a:buChar char="➔"/>
            </a:pP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b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 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are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factors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of </a:t>
            </a:r>
            <a:r>
              <a:rPr lang="en-US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➔"/>
            </a:pP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 said to be a </a:t>
            </a:r>
            <a:r>
              <a:rPr lang="en-US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multiple</a:t>
            </a:r>
            <a:r>
              <a:rPr lang="en-US" b="1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of </a:t>
            </a:r>
            <a:r>
              <a:rPr lang="en-US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(as well as of </a:t>
            </a:r>
            <a:r>
              <a:rPr lang="en-US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pipe symbol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“|” denotes “divides” so the situation is summarized by: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ctr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2800"/>
              <a:buNone/>
            </a:pP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b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| 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 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∧ 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| 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i="0" u="none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Divisors Examples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" name="Google Shape;49;p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12400" y="1213725"/>
            <a:ext cx="7543800" cy="36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Which of the following is true?</a:t>
            </a:r>
            <a:endParaRPr/>
          </a:p>
          <a:p>
            <a:pPr marL="609600" lvl="0" indent="-609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AutoNum type="arabicPeriod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77 | 7</a:t>
            </a:r>
            <a:endParaRPr/>
          </a:p>
          <a:p>
            <a:pPr marL="609600" lvl="0" indent="-609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AutoNum type="arabicPeriod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| 77</a:t>
            </a:r>
            <a:endParaRPr/>
          </a:p>
          <a:p>
            <a:pPr marL="609600" lvl="0" indent="-609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AutoNum type="arabicPeriod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 | 24</a:t>
            </a:r>
            <a:endParaRPr/>
          </a:p>
          <a:p>
            <a:pPr marL="609600" lvl="0" indent="-609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AutoNum type="arabicPeriod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| 24</a:t>
            </a:r>
            <a:endParaRPr/>
          </a:p>
          <a:p>
            <a:pPr marL="609600" lvl="0" indent="-609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AutoNum type="arabicPeriod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 | 0</a:t>
            </a: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609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400"/>
              <a:buFont typeface="Arial"/>
              <a:buAutoNum type="arabicPeriod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7 | -14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2346025" y="1716975"/>
            <a:ext cx="64608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False</a:t>
            </a: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bigger number can’t divide smaller positive number</a:t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2446625" y="2164875"/>
            <a:ext cx="64608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True </a:t>
            </a: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because 77 = 7 · 11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2547225" y="2650825"/>
            <a:ext cx="64608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True </a:t>
            </a: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because 24 = 24 · 1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2625600" y="3136775"/>
            <a:ext cx="64608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False</a:t>
            </a: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only 0 is divisible by 0</a:t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2625600" y="3622725"/>
            <a:ext cx="64608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True</a:t>
            </a: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0 is divisible by every number (0 = 24 · 0)</a:t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2726200" y="4174750"/>
            <a:ext cx="64608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True</a:t>
            </a: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because -14 = 7 . (-2)</a:t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i="0" u="none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Multiples up to given </a:t>
            </a:r>
            <a:r>
              <a:rPr lang="en-US" sz="4000" i="1" u="none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45600" y="1124925"/>
            <a:ext cx="7543800" cy="16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many positive multiples of 15 are less than 100?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sz="11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Just list them: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15, 30, 45, 60, 75, 90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Therefore the answer is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 </a:t>
            </a:r>
            <a:endParaRPr i="0" u="non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0"/>
          <p:cNvSpPr txBox="1"/>
          <p:nvPr/>
        </p:nvSpPr>
        <p:spPr>
          <a:xfrm>
            <a:off x="165950" y="2753025"/>
            <a:ext cx="8903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73050" lvl="0" indent="-2730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Q:  </a:t>
            </a:r>
            <a:r>
              <a:rPr lang="en-US" sz="24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How many positive multiples of 15 are less than 1,000,000?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545975" y="3425650"/>
            <a:ext cx="8382000" cy="12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A:  Listing is too much of a hassle. </a:t>
            </a:r>
            <a:r>
              <a:rPr lang="en-US" sz="22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⎣</a:t>
            </a: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1,000,000/15</a:t>
            </a:r>
            <a:r>
              <a:rPr lang="en-US" sz="22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⎦</a:t>
            </a:r>
            <a:r>
              <a:rPr lang="en-US" sz="22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2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general:  The number of </a:t>
            </a:r>
            <a:r>
              <a:rPr lang="en-US" sz="2200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-US" sz="22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-multiples less than </a:t>
            </a:r>
            <a:r>
              <a:rPr lang="en-US" sz="2200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  </a:t>
            </a: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 given by:</a:t>
            </a:r>
            <a:endParaRPr sz="22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ctr" rtl="0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ts val="2800"/>
              <a:buNone/>
            </a:pP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|{</a:t>
            </a:r>
            <a:r>
              <a:rPr lang="en-US" sz="22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 </a:t>
            </a: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∈ </a:t>
            </a:r>
            <a:r>
              <a:rPr lang="en-US" sz="22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Z</a:t>
            </a:r>
            <a:r>
              <a:rPr lang="en-US" sz="2200" i="0" u="none" baseline="30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    </a:t>
            </a: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  </a:t>
            </a:r>
            <a:r>
              <a:rPr lang="en-US" sz="22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 </a:t>
            </a: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</a:t>
            </a:r>
            <a:r>
              <a:rPr lang="en-US" sz="22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  </a:t>
            </a: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lang="en-US" sz="22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 </a:t>
            </a: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≤ </a:t>
            </a:r>
            <a:r>
              <a:rPr lang="en-US" sz="22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 </a:t>
            </a: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}| = </a:t>
            </a:r>
            <a:r>
              <a:rPr lang="en-US" sz="22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⎣</a:t>
            </a:r>
            <a:r>
              <a:rPr lang="en-US" sz="22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en-US" sz="22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-US" sz="22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⎦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i="0" u="none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Divisor Theorem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1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85900"/>
            <a:ext cx="7543800" cy="16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lvl="0" indent="-609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i="0" u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Let </a:t>
            </a:r>
            <a:r>
              <a:rPr lang="en-US" i="1" u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a, b, </a:t>
            </a:r>
            <a:r>
              <a:rPr lang="en-US" i="0" u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lang="en-US" i="1" u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 </a:t>
            </a:r>
            <a:r>
              <a:rPr lang="en-US" i="0" u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be integers.  Then: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609600" lvl="0" indent="-584200">
              <a:lnSpc>
                <a:spcPct val="90000"/>
              </a:lnSpc>
              <a:spcBef>
                <a:spcPts val="720"/>
              </a:spcBef>
              <a:buFont typeface="Roboto"/>
              <a:buAutoNum type="arabicPeriod"/>
            </a:pPr>
            <a:r>
              <a:rPr lang="en-US" i="1" u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i="0" u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</a:t>
            </a:r>
            <a:r>
              <a:rPr lang="en-US" i="1" u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-US" i="0" u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∧ </a:t>
            </a:r>
            <a:r>
              <a:rPr lang="en-US" i="1" u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i="0" u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</a:t>
            </a:r>
            <a:r>
              <a:rPr lang="en-US" i="1" u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i="1" u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i="0" u="none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1" u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i="0" u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|(</a:t>
            </a:r>
            <a:r>
              <a:rPr lang="en-US" i="1" u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-US" i="0" u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+ </a:t>
            </a:r>
            <a:r>
              <a:rPr lang="en-US" i="1" u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 </a:t>
            </a:r>
            <a:r>
              <a:rPr lang="en-US" i="0" u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609600" lvl="0" indent="-584200">
              <a:lnSpc>
                <a:spcPct val="90000"/>
              </a:lnSpc>
              <a:spcBef>
                <a:spcPts val="560"/>
              </a:spcBef>
              <a:buFont typeface="Roboto"/>
              <a:buAutoNum type="arabicPeriod"/>
            </a:pPr>
            <a:r>
              <a:rPr lang="en-US" i="1" u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i="0" u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</a:t>
            </a:r>
            <a:r>
              <a:rPr lang="en-US" i="1" u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-US" i="0" u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i="0" u="none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1" u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i="0" u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</a:t>
            </a:r>
            <a:r>
              <a:rPr lang="en-US" i="1" u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bc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609600" lvl="0" indent="-584200">
              <a:lnSpc>
                <a:spcPct val="90000"/>
              </a:lnSpc>
              <a:spcBef>
                <a:spcPts val="720"/>
              </a:spcBef>
              <a:buFont typeface="Roboto"/>
              <a:buAutoNum type="arabicPeriod"/>
            </a:pPr>
            <a:r>
              <a:rPr lang="en-US" i="1" u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i="0" u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</a:t>
            </a:r>
            <a:r>
              <a:rPr lang="en-US" i="1" u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-US" i="0" u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∧ </a:t>
            </a:r>
            <a:r>
              <a:rPr lang="en-US" i="1" u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-US" i="0" u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</a:t>
            </a:r>
            <a:r>
              <a:rPr lang="en-US" i="1" u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i="1" u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i="0" u="none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1" u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i="0" u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</a:t>
            </a:r>
            <a:r>
              <a:rPr lang="en-US" i="1" u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i="0" u="none" dirty="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801200" y="3389500"/>
            <a:ext cx="5395200" cy="606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09600" lvl="0" indent="-584200">
              <a:lnSpc>
                <a:spcPct val="90000"/>
              </a:lnSpc>
              <a:spcBef>
                <a:spcPts val="720"/>
              </a:spcBef>
              <a:buClr>
                <a:schemeClr val="dk1"/>
              </a:buClr>
              <a:buSzPts val="2400"/>
              <a:buFont typeface="Roboto"/>
              <a:buAutoNum type="arabicPeriod"/>
            </a:pPr>
            <a:r>
              <a:rPr lang="en-US" sz="24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17|34 ∧ 17|170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400" b="1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17|204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838200" y="3940125"/>
            <a:ext cx="426270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09600" lvl="0" indent="-584200">
              <a:lnSpc>
                <a:spcPct val="90000"/>
              </a:lnSpc>
              <a:spcBef>
                <a:spcPts val="560"/>
              </a:spcBef>
              <a:buClr>
                <a:schemeClr val="dk1"/>
              </a:buClr>
              <a:buSzPts val="2400"/>
              <a:buFont typeface="Roboto"/>
              <a:buAutoNum type="arabicPeriod" startAt="2"/>
            </a:pPr>
            <a:r>
              <a:rPr lang="en-US" sz="24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17|34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400" b="1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17|340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801200" y="4490750"/>
            <a:ext cx="4262700" cy="606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09600" lvl="0" indent="-584200">
              <a:lnSpc>
                <a:spcPct val="90000"/>
              </a:lnSpc>
              <a:spcBef>
                <a:spcPts val="720"/>
              </a:spcBef>
              <a:buClr>
                <a:schemeClr val="dk1"/>
              </a:buClr>
              <a:buSzPts val="2400"/>
              <a:buFont typeface="Roboto"/>
              <a:buAutoNum type="arabicPeriod" startAt="3"/>
            </a:pPr>
            <a:r>
              <a:rPr lang="en-US" sz="24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6|12 ∧ 12|144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400" b="1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 | 144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Prime Numbers</a:t>
            </a:r>
            <a:endParaRPr/>
          </a:p>
        </p:txBody>
      </p:sp>
      <p:sp>
        <p:nvSpPr>
          <p:cNvPr id="84" name="Google Shape;84;p1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592050" y="1028700"/>
            <a:ext cx="8015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number 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≥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 </a:t>
            </a:r>
            <a:r>
              <a:rPr lang="en-US" b="1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prime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if it is only divisible by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itself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number 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≥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which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isn’t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prime is called </a:t>
            </a:r>
            <a:r>
              <a:rPr lang="en-US" b="1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composite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Q:  Which of the following are prime?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0,1,2,3,4,5,6,7,8,9,10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451450" y="3035500"/>
            <a:ext cx="8534400" cy="19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A:  </a:t>
            </a:r>
            <a:r>
              <a:rPr lang="en-US" sz="18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0, and 1 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 prime since </a:t>
            </a:r>
            <a:r>
              <a:rPr lang="en-US" sz="18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not positive 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lang="en-US" sz="18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greater or equal to 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2 is prime as 1 and 2 are only factors</a:t>
            </a: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 is prime as 1 and 3 are only factors.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4,6,8,10 not prime as </a:t>
            </a:r>
            <a:r>
              <a:rPr lang="en-US" sz="18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non-trivially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divisible by 2.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5, 7 prime.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</a:t>
            </a:r>
            <a:r>
              <a:rPr lang="en-US" sz="18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9 = 3 </a:t>
            </a:r>
            <a:r>
              <a:rPr lang="en-US" sz="1800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· </a:t>
            </a:r>
            <a:r>
              <a:rPr lang="en-US" sz="18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3 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 prime.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Last example shows that not all odd numbers are prime.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i="0" u="none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Fundamental Theorem of Arithmetic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609600" y="1143000"/>
            <a:ext cx="8077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Any number 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≥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 expressible as a unique product of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1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more prime numbers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prime numbers are considered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be “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products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” of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1 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prime.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We’ll need induction and some more number theory tools to prove this.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Fundamental Theorem of Arithmetic </a:t>
            </a:r>
            <a:endParaRPr/>
          </a:p>
        </p:txBody>
      </p:sp>
      <p:sp>
        <p:nvSpPr>
          <p:cNvPr id="97" name="Google Shape;97;p2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1766025" y="2360875"/>
            <a:ext cx="5741100" cy="19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22  = 2·11, 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3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100 = 2·2·5·5, 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3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12   = 2·2·3, 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3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17   = 17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20"/>
          <p:cNvSpPr txBox="1"/>
          <p:nvPr/>
        </p:nvSpPr>
        <p:spPr>
          <a:xfrm>
            <a:off x="754875" y="1110100"/>
            <a:ext cx="7763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Q:  Express each of the following number as a product of primes: </a:t>
            </a:r>
            <a:r>
              <a:rPr lang="en-US" sz="24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22, 100, 12, 17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Primality Testing</a:t>
            </a:r>
            <a:endParaRPr/>
          </a:p>
        </p:txBody>
      </p:sp>
      <p:sp>
        <p:nvSpPr>
          <p:cNvPr id="104" name="Google Shape;104;p2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407050" y="1085850"/>
            <a:ext cx="8281500" cy="40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Prime numbers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are very important in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encryption schemes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 Essential to be able to verify if a number is prime or not.  It turns out that this is quite a difficult problem.  </a:t>
            </a:r>
            <a:endParaRPr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First try: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boolean isPrime(integer 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	if ( 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&lt; 2 ) return false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	for(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i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= 2 to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n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-1)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	  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if( 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i </a:t>
            </a:r>
            <a:r>
              <a:rPr lang="en-US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|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)  	// “divides”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	      return false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	return true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Primality Testing</a:t>
            </a:r>
            <a:endParaRPr/>
          </a:p>
        </p:txBody>
      </p:sp>
      <p:sp>
        <p:nvSpPr>
          <p:cNvPr id="110" name="Google Shape;110;p2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609600" y="1085850"/>
            <a:ext cx="7772400" cy="16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200">
                <a:latin typeface="Roboto"/>
                <a:ea typeface="Roboto"/>
                <a:cs typeface="Roboto"/>
                <a:sym typeface="Roboto"/>
              </a:rPr>
              <a:t>Q:  What is the running time of this algorithm?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A: Assuming divisibility testing is a basic operation –then above primality testing algorithm is </a:t>
            </a:r>
            <a:r>
              <a:rPr lang="en-US" sz="2200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O </a:t>
            </a:r>
            <a:r>
              <a:rPr lang="en-US" sz="22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n-US" sz="2200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22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2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Q: What is the </a:t>
            </a:r>
            <a:r>
              <a:rPr lang="en-US" sz="22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running time in terms of the input size </a:t>
            </a:r>
            <a:r>
              <a:rPr lang="en-US" sz="2200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?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2"/>
          <p:cNvSpPr txBox="1"/>
          <p:nvPr/>
        </p:nvSpPr>
        <p:spPr>
          <a:xfrm>
            <a:off x="669675" y="2619825"/>
            <a:ext cx="74154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73050" lvl="0" indent="-2730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A:  Consider </a:t>
            </a:r>
            <a:r>
              <a:rPr lang="en-US" sz="22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 </a:t>
            </a:r>
            <a:r>
              <a:rPr lang="en-US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1,000,000.   The input size is </a:t>
            </a:r>
            <a:r>
              <a:rPr lang="en-US" sz="2200" i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k </a:t>
            </a:r>
            <a:r>
              <a:rPr lang="en-US" sz="2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= 7 </a:t>
            </a:r>
            <a:r>
              <a:rPr lang="en-US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because </a:t>
            </a:r>
            <a:r>
              <a:rPr lang="en-US" sz="2200" i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22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was described using only </a:t>
            </a:r>
            <a:r>
              <a:rPr lang="en-US" sz="2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r>
              <a:rPr lang="en-US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digits.  In general we have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</a:t>
            </a:r>
            <a:r>
              <a:rPr lang="en-US" sz="2200" i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 </a:t>
            </a:r>
            <a:r>
              <a:rPr lang="en-US" sz="2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= </a:t>
            </a:r>
            <a:r>
              <a:rPr lang="en-US" sz="2200" i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O </a:t>
            </a:r>
            <a:r>
              <a:rPr lang="en-US" sz="2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(10</a:t>
            </a:r>
            <a:r>
              <a:rPr lang="en-US" sz="2200" i="1" baseline="30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k </a:t>
            </a:r>
            <a:r>
              <a:rPr lang="en-US" sz="2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).  </a:t>
            </a:r>
            <a:r>
              <a:rPr lang="en-US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Therefore, running time is </a:t>
            </a:r>
            <a:r>
              <a:rPr lang="en-US" sz="2200" i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O </a:t>
            </a:r>
            <a:r>
              <a:rPr lang="en-US" sz="2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(10</a:t>
            </a:r>
            <a:r>
              <a:rPr lang="en-US" sz="2200" i="1" baseline="30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k </a:t>
            </a:r>
            <a:r>
              <a:rPr lang="en-US" sz="2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).   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Q:  </a:t>
            </a:r>
            <a:r>
              <a:rPr lang="en-US" sz="2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Can we improve the algorithm?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Primality Testing</a:t>
            </a:r>
            <a:endParaRPr/>
          </a:p>
        </p:txBody>
      </p:sp>
      <p:sp>
        <p:nvSpPr>
          <p:cNvPr id="117" name="Google Shape;117;p2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609600" y="1085850"/>
            <a:ext cx="7772400" cy="21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A: Don’t try number bigger than </a:t>
            </a:r>
            <a:r>
              <a:rPr lang="en-US" sz="2000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/2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222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Roboto"/>
              <a:buChar char="•"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After trying </a:t>
            </a: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don’t try 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any other </a:t>
            </a: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even numbers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because know </a:t>
            </a:r>
            <a:r>
              <a:rPr lang="en-US" sz="20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 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 odd by this point.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222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Roboto"/>
              <a:buChar char="•"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 general, try only </a:t>
            </a: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smaller prime 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222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Roboto"/>
              <a:buChar char="•"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 fact, only need to try to divide by </a:t>
            </a: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prime numbers no larger than     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as we’ll see next: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8925" y="2834925"/>
            <a:ext cx="457200" cy="43338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456125" y="3357125"/>
            <a:ext cx="81534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LEMMA: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If </a:t>
            </a:r>
            <a:r>
              <a:rPr lang="en-US" sz="20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 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 a composite, then its smallest prime factor is ≤ </a:t>
            </a:r>
            <a:endParaRPr sz="20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000" b="1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Proof (by contradiction)</a:t>
            </a: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1&lt;a&lt;n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n=ab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 =====&gt; 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a&lt;=n or b&lt;=n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if a&gt;           and b&gt;             then </a:t>
            </a: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ab&gt; n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0" name="Google Shape;120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39300" y="4362875"/>
            <a:ext cx="360759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90925" y="4344425"/>
            <a:ext cx="400050" cy="379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58125" y="3357125"/>
            <a:ext cx="360759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Primality Testing</a:t>
            </a:r>
            <a:endParaRPr/>
          </a:p>
        </p:txBody>
      </p:sp>
      <p:sp>
        <p:nvSpPr>
          <p:cNvPr id="128" name="Google Shape;128;p2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685800" y="10287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3050" lvl="0" indent="-2730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EG: Test if 139 and 143 are prime.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List all primes up to	 	and check if they divide the numbers.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18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18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2:  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Neither is even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18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3:  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Sum of digits trick: 1+3+9 = 13, 1+4+3 = 8 so neither divisible by 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18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5: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Don’t end in 0 or 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18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7: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140 divisible by 7 so neither div. by 7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18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11: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Alternating sum trick: 1-3+9 = 7 so 139 not div by 11.  1-4+3 = 0 so 143 </a:t>
            </a:r>
            <a:r>
              <a:rPr lang="en-US" sz="18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divisible by 11.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18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18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STOP!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Next prime 13 need not be examined since bigger than	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18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Conclude:  139 is prime, 143 is composite.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9" name="Google Shape;12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93700" y="4266325"/>
            <a:ext cx="351424" cy="33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29575" y="1561975"/>
            <a:ext cx="400050" cy="379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Division</a:t>
            </a:r>
            <a:endParaRPr/>
          </a:p>
        </p:txBody>
      </p:sp>
      <p:sp>
        <p:nvSpPr>
          <p:cNvPr id="136" name="Google Shape;136;p2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275775" y="1081750"/>
            <a:ext cx="7543800" cy="5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Remember long division?</a:t>
            </a:r>
            <a:endParaRPr/>
          </a:p>
        </p:txBody>
      </p:sp>
      <p:pic>
        <p:nvPicPr>
          <p:cNvPr id="137" name="Google Shape;137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5125" y="1905000"/>
            <a:ext cx="744187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18852" y="2552700"/>
            <a:ext cx="39736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7"/>
          <p:cNvSpPr/>
          <p:nvPr/>
        </p:nvSpPr>
        <p:spPr>
          <a:xfrm>
            <a:off x="3699825" y="1612952"/>
            <a:ext cx="1600200" cy="78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12960" y="-8845"/>
                </a:moveTo>
                <a:lnTo>
                  <a:pt x="3240" y="-1235"/>
                </a:lnTo>
              </a:path>
            </a:pathLst>
          </a:custGeom>
          <a:solidFill>
            <a:srgbClr val="92D05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US" sz="2400" b="1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quotient</a:t>
            </a:r>
            <a:endParaRPr/>
          </a:p>
        </p:txBody>
      </p:sp>
      <p:sp>
        <p:nvSpPr>
          <p:cNvPr id="140" name="Google Shape;140;p27"/>
          <p:cNvSpPr/>
          <p:nvPr/>
        </p:nvSpPr>
        <p:spPr>
          <a:xfrm>
            <a:off x="3677675" y="2667175"/>
            <a:ext cx="1600200" cy="74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12960" y="-7740"/>
                </a:moveTo>
                <a:lnTo>
                  <a:pt x="3240" y="-1080"/>
                </a:lnTo>
              </a:path>
            </a:pathLst>
          </a:custGeom>
          <a:solidFill>
            <a:srgbClr val="92D05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200" b="1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remainder</a:t>
            </a:r>
            <a:endParaRPr sz="1200"/>
          </a:p>
        </p:txBody>
      </p:sp>
      <p:sp>
        <p:nvSpPr>
          <p:cNvPr id="141" name="Google Shape;141;p27"/>
          <p:cNvSpPr/>
          <p:nvPr/>
        </p:nvSpPr>
        <p:spPr>
          <a:xfrm>
            <a:off x="438275" y="1714500"/>
            <a:ext cx="1600200" cy="74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14176" y="34740"/>
                </a:moveTo>
                <a:lnTo>
                  <a:pt x="3240" y="27155"/>
                </a:lnTo>
              </a:path>
            </a:pathLst>
          </a:custGeom>
          <a:solidFill>
            <a:srgbClr val="92D05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US" sz="2400" b="1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divisor</a:t>
            </a:r>
            <a:endParaRPr/>
          </a:p>
        </p:txBody>
      </p:sp>
      <p:sp>
        <p:nvSpPr>
          <p:cNvPr id="142" name="Google Shape;142;p27"/>
          <p:cNvSpPr/>
          <p:nvPr/>
        </p:nvSpPr>
        <p:spPr>
          <a:xfrm>
            <a:off x="438275" y="2571750"/>
            <a:ext cx="1600200" cy="78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8100" y="41220"/>
                </a:moveTo>
                <a:lnTo>
                  <a:pt x="3240" y="27155"/>
                </a:lnTo>
              </a:path>
            </a:pathLst>
          </a:custGeom>
          <a:solidFill>
            <a:srgbClr val="92D05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US" sz="2400" b="1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dividend</a:t>
            </a:r>
            <a:endParaRPr/>
          </a:p>
        </p:txBody>
      </p:sp>
      <p:sp>
        <p:nvSpPr>
          <p:cNvPr id="143" name="Google Shape;143;p27"/>
          <p:cNvSpPr txBox="1"/>
          <p:nvPr/>
        </p:nvSpPr>
        <p:spPr>
          <a:xfrm>
            <a:off x="5639350" y="1620750"/>
            <a:ext cx="29307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73050" lvl="0" indent="-2730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117 = 31·3 + 24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lvl="0" indent="-2730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i="1">
                <a:solidFill>
                  <a:srgbClr val="FF0000"/>
                </a:solidFill>
              </a:rPr>
              <a:t>a </a:t>
            </a:r>
            <a:r>
              <a:rPr lang="en-US" sz="2800">
                <a:solidFill>
                  <a:srgbClr val="FF0000"/>
                </a:solidFill>
              </a:rPr>
              <a:t>= </a:t>
            </a:r>
            <a:r>
              <a:rPr lang="en-US" sz="2800" i="1">
                <a:solidFill>
                  <a:srgbClr val="FF0000"/>
                </a:solidFill>
              </a:rPr>
              <a:t>dq </a:t>
            </a:r>
            <a:r>
              <a:rPr lang="en-US" sz="2800">
                <a:solidFill>
                  <a:srgbClr val="FF0000"/>
                </a:solidFill>
              </a:rPr>
              <a:t>+</a:t>
            </a:r>
            <a:r>
              <a:rPr lang="en-US" sz="2800" i="1">
                <a:solidFill>
                  <a:srgbClr val="FF0000"/>
                </a:solidFill>
              </a:rPr>
              <a:t> 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2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438275" y="3617100"/>
            <a:ext cx="7543800" cy="12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THM:  Let 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 an integer, and 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-US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 a positive integer.  There are unique integers 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q, r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with 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r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∈ {0,1,2,…,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-1}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satisfying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= 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dq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+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r</a:t>
            </a:r>
            <a:endParaRPr i="1" u="non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title"/>
          </p:nvPr>
        </p:nvSpPr>
        <p:spPr>
          <a:xfrm>
            <a:off x="-46975" y="172225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GCD and Relatively Prime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338850" y="1143000"/>
            <a:ext cx="8466300" cy="38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Let </a:t>
            </a:r>
            <a:r>
              <a:rPr lang="en-US" sz="21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21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-US" sz="21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 </a:t>
            </a:r>
            <a:r>
              <a:rPr lang="en-US" sz="21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 integers, not both zero.  The </a:t>
            </a:r>
            <a:r>
              <a:rPr lang="en-US" sz="2100" b="1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greatest common divisor</a:t>
            </a:r>
            <a:r>
              <a:rPr lang="en-US" sz="21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of </a:t>
            </a:r>
            <a:r>
              <a:rPr lang="en-US" sz="21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-US" sz="21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lang="en-US" sz="21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-US" sz="21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or </a:t>
            </a:r>
            <a:r>
              <a:rPr lang="en-US" sz="2100" b="1" i="0" u="none">
                <a:solidFill>
                  <a:srgbClr val="018952"/>
                </a:solidFill>
                <a:latin typeface="Roboto"/>
                <a:ea typeface="Roboto"/>
                <a:cs typeface="Roboto"/>
                <a:sym typeface="Roboto"/>
              </a:rPr>
              <a:t>gcd(</a:t>
            </a:r>
            <a:r>
              <a:rPr lang="en-US" sz="2100" b="1" i="1" u="none">
                <a:solidFill>
                  <a:srgbClr val="018952"/>
                </a:solidFill>
                <a:latin typeface="Roboto"/>
                <a:ea typeface="Roboto"/>
                <a:cs typeface="Roboto"/>
                <a:sym typeface="Roboto"/>
              </a:rPr>
              <a:t>a,b</a:t>
            </a:r>
            <a:r>
              <a:rPr lang="en-US" sz="2100" b="1" i="0" u="none">
                <a:solidFill>
                  <a:srgbClr val="01895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n-US" sz="21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is the biggest number </a:t>
            </a:r>
            <a:r>
              <a:rPr lang="en-US" sz="21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 </a:t>
            </a:r>
            <a:r>
              <a:rPr lang="en-US" sz="21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which divides both </a:t>
            </a:r>
            <a:r>
              <a:rPr lang="en-US" sz="21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-US" sz="21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lang="en-US" sz="21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-US" sz="21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Roboto"/>
              <a:buChar char="➔"/>
            </a:pPr>
            <a:r>
              <a:rPr lang="en-US" sz="21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-US" sz="21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lang="en-US" sz="21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 </a:t>
            </a:r>
            <a:r>
              <a:rPr lang="en-US" sz="21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are said to be </a:t>
            </a:r>
            <a:r>
              <a:rPr lang="en-US" sz="2100" b="1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relatively prime</a:t>
            </a:r>
            <a:r>
              <a:rPr lang="en-US" sz="21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gcd(</a:t>
            </a:r>
            <a:r>
              <a:rPr lang="en-US" sz="21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21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-US" sz="21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-US" sz="21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 = 1, so </a:t>
            </a:r>
            <a:r>
              <a:rPr lang="en-US" sz="21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no prime common divisors</a:t>
            </a:r>
            <a:r>
              <a:rPr lang="en-US" sz="21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Roboto"/>
              <a:buChar char="➔"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gcd(11,77) = 11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560"/>
              </a:spcBef>
              <a:spcAft>
                <a:spcPts val="0"/>
              </a:spcAft>
              <a:buSzPts val="1800"/>
              <a:buFont typeface="Roboto"/>
              <a:buChar char="➔"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gcd(33,77) = 11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560"/>
              </a:spcBef>
              <a:spcAft>
                <a:spcPts val="0"/>
              </a:spcAft>
              <a:buSzPts val="1800"/>
              <a:buFont typeface="Roboto"/>
              <a:buChar char="➔"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gcd(24,36) = 12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560"/>
              </a:spcBef>
              <a:spcAft>
                <a:spcPts val="0"/>
              </a:spcAft>
              <a:buSzPts val="1800"/>
              <a:buFont typeface="Roboto"/>
              <a:buChar char="➔"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gcd(24,25) = 1.  Therefore </a:t>
            </a:r>
            <a:r>
              <a:rPr lang="en-US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24 and 25 </a:t>
            </a: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are relatively prime.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NOTE:  A prime number are relatively prime to all other numbers which it doesn’t divide.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"/>
          <p:cNvSpPr txBox="1">
            <a:spLocks noGrp="1"/>
          </p:cNvSpPr>
          <p:nvPr>
            <p:ph type="title"/>
          </p:nvPr>
        </p:nvSpPr>
        <p:spPr>
          <a:xfrm>
            <a:off x="0" y="117425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GCD and Relatively Prime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3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547375" y="1216200"/>
            <a:ext cx="8017200" cy="35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lvl="0" indent="-609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EG:  More realistic.  Find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gcd(98,420).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Find prime decomposition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of each number and find all the common factors: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1066800" lvl="0" indent="-609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98 =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2·49 =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2·7·7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1066800" lvl="0" indent="-609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420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2·210 = 2·2·105 = 2·2·3·35 =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2·2·3·5·7</a:t>
            </a:r>
            <a:endParaRPr i="0" u="non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9600" lvl="0" indent="-609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Underline common factors: </a:t>
            </a:r>
            <a:r>
              <a:rPr lang="en-US" i="0" u="sng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2·7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·7,   2·</a:t>
            </a:r>
            <a:r>
              <a:rPr lang="en-US" i="0" u="sng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·3·5·</a:t>
            </a:r>
            <a:r>
              <a:rPr lang="en-US" i="0" u="sng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9600" lvl="0" indent="-609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Therefore,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gcd(98,420) = 14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2"/>
          <p:cNvSpPr txBox="1">
            <a:spLocks noGrp="1"/>
          </p:cNvSpPr>
          <p:nvPr>
            <p:ph type="title"/>
          </p:nvPr>
        </p:nvSpPr>
        <p:spPr>
          <a:xfrm>
            <a:off x="0" y="140925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Least Common Multiple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3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609600" y="1200150"/>
            <a:ext cx="8153400" cy="39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lang="en-US" b="1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least common multiple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of </a:t>
            </a:r>
            <a:r>
              <a:rPr lang="en-US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-US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(lcm(</a:t>
            </a:r>
            <a:r>
              <a:rPr lang="en-US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a,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b) ) is the smallest number 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en-US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which is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divisible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by both 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Find the lcm: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609600" lvl="0" indent="-584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-US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lcm(10,100) = 100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9600" lvl="0" indent="-584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-US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lcm(7,5) = 35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9600" lvl="0" indent="-584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-US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lcm(9,21) = 63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018952"/>
                </a:solidFill>
                <a:highlight>
                  <a:srgbClr val="FFF2CC"/>
                </a:highlight>
                <a:latin typeface="Roboto"/>
                <a:ea typeface="Roboto"/>
                <a:cs typeface="Roboto"/>
                <a:sym typeface="Roboto"/>
              </a:rPr>
              <a:t>lcm(a,b) = ab / gcd(a,b)</a:t>
            </a:r>
            <a:endParaRPr b="1">
              <a:solidFill>
                <a:srgbClr val="018952"/>
              </a:solidFill>
              <a:highlight>
                <a:srgbClr val="FFF2C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4"/>
          <p:cNvSpPr txBox="1">
            <a:spLocks noGrp="1"/>
          </p:cNvSpPr>
          <p:nvPr>
            <p:ph type="title"/>
          </p:nvPr>
        </p:nvSpPr>
        <p:spPr>
          <a:xfrm>
            <a:off x="0" y="156575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Modular Arithmetic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3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391450" y="1200150"/>
            <a:ext cx="80667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1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There are two types of “mod” (confusing):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286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Char char="➔"/>
            </a:pPr>
            <a:r>
              <a:rPr lang="en-US" sz="21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the </a:t>
            </a:r>
            <a:r>
              <a:rPr lang="en-US" sz="21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mod</a:t>
            </a:r>
            <a:r>
              <a:rPr lang="en-US" sz="2100" b="1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function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marL="593725" lvl="1" indent="-2540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Roboto"/>
              <a:buChar char="◆"/>
            </a:pPr>
            <a:r>
              <a:rPr lang="en-US" sz="21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Inputs a number </a:t>
            </a:r>
            <a:r>
              <a:rPr lang="en-US" sz="2100" b="1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21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a base </a:t>
            </a:r>
            <a:r>
              <a:rPr lang="en-US" sz="2100" b="1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 sz="2100" b="1">
              <a:latin typeface="Roboto"/>
              <a:ea typeface="Roboto"/>
              <a:cs typeface="Roboto"/>
              <a:sym typeface="Roboto"/>
            </a:endParaRPr>
          </a:p>
          <a:p>
            <a:pPr marL="593725" lvl="1" indent="-2540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Char char="◆"/>
            </a:pPr>
            <a:r>
              <a:rPr lang="en-US" sz="21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Outputs  </a:t>
            </a:r>
            <a:r>
              <a:rPr lang="en-US" sz="21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-US" sz="21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 </a:t>
            </a:r>
            <a:r>
              <a:rPr lang="en-US" sz="21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  </a:t>
            </a:r>
            <a:r>
              <a:rPr lang="en-US" sz="21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number between 0 and </a:t>
            </a:r>
            <a:r>
              <a:rPr lang="en-US" sz="21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 </a:t>
            </a:r>
            <a:r>
              <a:rPr lang="en-US" sz="21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–1 inclusive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marL="593725" lvl="1" indent="-2540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Roboto"/>
              <a:buChar char="◆"/>
            </a:pPr>
            <a:r>
              <a:rPr lang="en-US" sz="21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is the remainder of a÷b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endParaRPr sz="2100" i="0" u="non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34"/>
          <p:cNvSpPr txBox="1"/>
          <p:nvPr/>
        </p:nvSpPr>
        <p:spPr>
          <a:xfrm>
            <a:off x="369250" y="3485750"/>
            <a:ext cx="8111100" cy="14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73050" lvl="0" indent="-2286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Roboto"/>
              <a:buChar char="➔"/>
            </a:pPr>
            <a:r>
              <a:rPr lang="en-US" sz="21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the (mod) congruence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593725" lvl="1" indent="-2540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Roboto"/>
              <a:buChar char="◆"/>
            </a:pPr>
            <a:r>
              <a:rPr lang="en-US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Relates two numbers </a:t>
            </a:r>
            <a:r>
              <a:rPr lang="en-US" sz="2100" i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a, b</a:t>
            </a:r>
            <a:r>
              <a:rPr lang="en-US" sz="21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each other relative some base </a:t>
            </a:r>
            <a:r>
              <a:rPr lang="en-US" sz="2100" i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593725" lvl="1" indent="-2540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Roboto"/>
              <a:buChar char="◆"/>
            </a:pPr>
            <a:r>
              <a:rPr lang="en-US" sz="21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-US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≡ </a:t>
            </a:r>
            <a:r>
              <a:rPr lang="en-US" sz="21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  </a:t>
            </a:r>
            <a:r>
              <a:rPr lang="en-US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(mod </a:t>
            </a:r>
            <a:r>
              <a:rPr lang="en-US" sz="21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 means that </a:t>
            </a:r>
            <a:r>
              <a:rPr lang="en-US" sz="2100" i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-US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lang="en-US" sz="21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00" i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-US" sz="21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have the </a:t>
            </a:r>
            <a:r>
              <a:rPr lang="en-US" sz="21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same remainder when dividing by </a:t>
            </a:r>
            <a:r>
              <a:rPr lang="en-US" sz="2100" i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 function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175" name="Google Shape;175;p3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3867925" y="1216450"/>
            <a:ext cx="31623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09600" lvl="0" indent="-609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latin typeface="Times New Roman"/>
                <a:ea typeface="Times New Roman"/>
                <a:cs typeface="Times New Roman"/>
                <a:sym typeface="Times New Roman"/>
              </a:rPr>
              <a:t>A:  Compute</a:t>
            </a:r>
            <a:endParaRPr sz="2400" b="0" i="0" u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609600" lvl="0" indent="-609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rabicPeriod"/>
            </a:pPr>
            <a:r>
              <a:rPr lang="en-US" sz="2400" b="0" i="0" u="none">
                <a:latin typeface="Times New Roman"/>
                <a:ea typeface="Times New Roman"/>
                <a:cs typeface="Times New Roman"/>
                <a:sym typeface="Times New Roman"/>
              </a:rPr>
              <a:t>113 </a:t>
            </a:r>
            <a:r>
              <a:rPr lang="en-US" sz="2400" b="1" i="0" u="none">
                <a:latin typeface="Times New Roman"/>
                <a:ea typeface="Times New Roman"/>
                <a:cs typeface="Times New Roman"/>
                <a:sym typeface="Times New Roman"/>
              </a:rPr>
              <a:t>mod </a:t>
            </a:r>
            <a:r>
              <a:rPr lang="en-US" sz="2400" b="0" i="0" u="none">
                <a:latin typeface="Times New Roman"/>
                <a:ea typeface="Times New Roman"/>
                <a:cs typeface="Times New Roman"/>
                <a:sym typeface="Times New Roman"/>
              </a:rPr>
              <a:t>24</a:t>
            </a:r>
            <a:endParaRPr/>
          </a:p>
          <a:p>
            <a:pPr marL="609600"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endParaRPr sz="2400" b="0" i="0" u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600"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endParaRPr sz="2400" b="0" i="0" u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600" lvl="0" indent="-609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rabicPeriod"/>
            </a:pPr>
            <a:r>
              <a:rPr lang="en-US" sz="2400" b="0" i="0" u="none">
                <a:latin typeface="Times New Roman"/>
                <a:ea typeface="Times New Roman"/>
                <a:cs typeface="Times New Roman"/>
                <a:sym typeface="Times New Roman"/>
              </a:rPr>
              <a:t>-29 </a:t>
            </a:r>
            <a:r>
              <a:rPr lang="en-US" sz="2400" b="1" i="0" u="none">
                <a:latin typeface="Times New Roman"/>
                <a:ea typeface="Times New Roman"/>
                <a:cs typeface="Times New Roman"/>
                <a:sym typeface="Times New Roman"/>
              </a:rPr>
              <a:t>mod </a:t>
            </a:r>
            <a:r>
              <a:rPr lang="en-US" sz="2400" b="0" i="0" u="none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pic>
        <p:nvPicPr>
          <p:cNvPr id="176" name="Google Shape;176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78637" y="1702375"/>
            <a:ext cx="1044177" cy="909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8887" y="2419131"/>
            <a:ext cx="466724" cy="8548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" name="Google Shape;178;p36"/>
          <p:cNvCxnSpPr/>
          <p:nvPr/>
        </p:nvCxnSpPr>
        <p:spPr>
          <a:xfrm>
            <a:off x="6361062" y="2532240"/>
            <a:ext cx="1673100" cy="514200"/>
          </a:xfrm>
          <a:prstGeom prst="straightConnector1">
            <a:avLst/>
          </a:prstGeom>
          <a:noFill/>
          <a:ln w="4127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179" name="Google Shape;179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72300" y="3403778"/>
            <a:ext cx="989409" cy="937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75525" y="4131250"/>
            <a:ext cx="714376" cy="93702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1" name="Google Shape;181;p36"/>
          <p:cNvCxnSpPr/>
          <p:nvPr/>
        </p:nvCxnSpPr>
        <p:spPr>
          <a:xfrm>
            <a:off x="5903862" y="3731200"/>
            <a:ext cx="2439900" cy="973800"/>
          </a:xfrm>
          <a:prstGeom prst="straightConnector1">
            <a:avLst/>
          </a:prstGeom>
          <a:noFill/>
          <a:ln w="4127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182" name="Google Shape;182;p3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62900" y="4602738"/>
            <a:ext cx="273844" cy="385763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231725" y="1216450"/>
            <a:ext cx="3479100" cy="3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i="0" u="none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answer is always positive</a:t>
            </a:r>
            <a:r>
              <a:rPr lang="en-US" i="0" u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  E.G. </a:t>
            </a:r>
            <a:endParaRPr i="0" u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-10 </a:t>
            </a:r>
            <a:r>
              <a:rPr lang="en-US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mod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3 = </a:t>
            </a:r>
            <a:r>
              <a:rPr lang="en-US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i="0" u="none" smtClean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0"/>
          <p:cNvSpPr txBox="1">
            <a:spLocks noGrp="1"/>
          </p:cNvSpPr>
          <p:nvPr>
            <p:ph type="title"/>
          </p:nvPr>
        </p:nvSpPr>
        <p:spPr>
          <a:xfrm>
            <a:off x="0" y="148725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(mod) congruence Formal Definition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4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685800" y="1200150"/>
            <a:ext cx="8077200" cy="3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3400" lvl="0" indent="-5334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Let 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-US" i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be integers and </a:t>
            </a:r>
            <a:r>
              <a:rPr lang="en-US" i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 a positive integer. We say that </a:t>
            </a:r>
            <a:r>
              <a:rPr lang="en-US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 congruent to </a:t>
            </a:r>
            <a:r>
              <a:rPr lang="en-US" i="1"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-US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modulo </a:t>
            </a:r>
            <a:r>
              <a:rPr lang="en-US" i="1"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(denoted by  </a:t>
            </a:r>
            <a:r>
              <a:rPr lang="en-US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≡ </a:t>
            </a:r>
            <a:r>
              <a:rPr lang="en-US" i="1"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-US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(mod </a:t>
            </a:r>
            <a:r>
              <a:rPr lang="en-US" i="1"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 )  iff  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| (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r>
              <a:rPr lang="en-US" i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Equivalently:  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-US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</a:t>
            </a:r>
            <a:r>
              <a:rPr lang="en-US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=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-US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</a:t>
            </a:r>
            <a:r>
              <a:rPr lang="en-US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533400" lvl="0" indent="-5334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i="1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533400" lvl="0" indent="-5334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Which of the following are true?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533400" lvl="0" indent="-5080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oboto"/>
              <a:buAutoNum type="arabicPeriod"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 ≡ 3 (mod 17)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533400" lvl="0" indent="-5080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oboto"/>
              <a:buAutoNum type="arabicPeriod"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 ≡ -3 (mod 17)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533400" lvl="0" indent="-5080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oboto"/>
              <a:buAutoNum type="arabicPeriod"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172 ≡ 177 (mod 5)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533400" lvl="0" indent="-5080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oboto"/>
              <a:buAutoNum type="arabicPeriod"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-13 ≡ 13 (mod 26)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40"/>
          <p:cNvSpPr txBox="1"/>
          <p:nvPr/>
        </p:nvSpPr>
        <p:spPr>
          <a:xfrm>
            <a:off x="3966775" y="3211925"/>
            <a:ext cx="42627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True.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40"/>
          <p:cNvSpPr txBox="1"/>
          <p:nvPr/>
        </p:nvSpPr>
        <p:spPr>
          <a:xfrm>
            <a:off x="3966775" y="3552350"/>
            <a:ext cx="49584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False. (3-(-3)) = 6 </a:t>
            </a: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isn’t divisible by 17.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40"/>
          <p:cNvSpPr txBox="1"/>
          <p:nvPr/>
        </p:nvSpPr>
        <p:spPr>
          <a:xfrm>
            <a:off x="3966775" y="3944575"/>
            <a:ext cx="42627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True.  172-177 = -5 </a:t>
            </a: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 a multiple of 5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40"/>
          <p:cNvSpPr txBox="1"/>
          <p:nvPr/>
        </p:nvSpPr>
        <p:spPr>
          <a:xfrm>
            <a:off x="3929775" y="4329425"/>
            <a:ext cx="42627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True.</a:t>
            </a: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r>
              <a:rPr lang="en-US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-13-13 = -26 </a:t>
            </a: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divisible by 26.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3"/>
          <p:cNvSpPr txBox="1">
            <a:spLocks noGrp="1"/>
          </p:cNvSpPr>
          <p:nvPr>
            <p:ph type="title"/>
          </p:nvPr>
        </p:nvSpPr>
        <p:spPr>
          <a:xfrm>
            <a:off x="0" y="156575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Modular arithmetic harder examples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4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564725" y="1258075"/>
            <a:ext cx="77724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lvl="0" indent="-609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A: Use the previous identities to help simplify: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609600" lvl="0" indent="-584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oboto"/>
              <a:buAutoNum type="arabicPeriod"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Using multiplication rules, before multiplying (or exponentiating) can reduce modulo 102: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307</a:t>
            </a:r>
            <a:r>
              <a:rPr lang="en-US" i="0" u="none" baseline="30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1001 </a:t>
            </a:r>
            <a:r>
              <a:rPr lang="en-US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102 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≡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307</a:t>
            </a:r>
            <a:r>
              <a:rPr lang="en-US" i="0" u="none" baseline="30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1001</a:t>
            </a:r>
            <a:r>
              <a:rPr lang="en-US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(mod 102)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≡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1</a:t>
            </a:r>
            <a:r>
              <a:rPr lang="en-US" i="0" u="none" baseline="30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1001</a:t>
            </a:r>
            <a:r>
              <a:rPr lang="en-US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(mod 102)     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(102X3)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≡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1</a:t>
            </a:r>
            <a:r>
              <a:rPr lang="en-US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(mod 102).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Therefore, 307</a:t>
            </a:r>
            <a:r>
              <a:rPr lang="en-US" i="0" u="none" baseline="30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1001 </a:t>
            </a:r>
            <a:r>
              <a:rPr lang="en-US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102 = 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Modular arithmetic harder examples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4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533400" y="1085850"/>
            <a:ext cx="7772400" cy="40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lvl="0" indent="-609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A: Use the previous identities to help simplify: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2.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Similarly, before taking sum can simplify modulo 11: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609600" lvl="0" indent="-4318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None/>
            </a:pPr>
            <a:endParaRPr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   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Therefore, the answer is 0.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6" name="Google Shape;206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62200" y="2228850"/>
            <a:ext cx="3543301" cy="2282427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44"/>
          <p:cNvSpPr txBox="1"/>
          <p:nvPr/>
        </p:nvSpPr>
        <p:spPr>
          <a:xfrm>
            <a:off x="6629400" y="3200400"/>
            <a:ext cx="114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10-(-1)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5"/>
          <p:cNvSpPr txBox="1">
            <a:spLocks noGrp="1"/>
          </p:cNvSpPr>
          <p:nvPr>
            <p:ph type="title"/>
          </p:nvPr>
        </p:nvSpPr>
        <p:spPr>
          <a:xfrm>
            <a:off x="0" y="125275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Simple Encryption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4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532575" y="1237575"/>
            <a:ext cx="8296500" cy="36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Variations on the following have been used to encrypt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messages for thousands of years.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609600" lvl="0" indent="-584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oboto"/>
              <a:buAutoNum type="arabicPeriod"/>
            </a:pP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Convert a message to capitals.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609600" lvl="0" indent="-584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oboto"/>
              <a:buAutoNum type="arabicPeriod"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Think of each letter as a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number between 1 and 26.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609600" lvl="0" indent="-584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oboto"/>
              <a:buAutoNum type="arabicPeriod"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Apply an invertible modular function to each number.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609600" lvl="0" indent="-584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oboto"/>
              <a:buAutoNum type="arabicPeriod"/>
            </a:pP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Convert back to letters (0 becomes 26).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273050" lvl="0" indent="-95250" algn="l" rtl="0"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ec9953bcda_0_15"/>
          <p:cNvSpPr txBox="1">
            <a:spLocks noGrp="1"/>
          </p:cNvSpPr>
          <p:nvPr>
            <p:ph type="title"/>
          </p:nvPr>
        </p:nvSpPr>
        <p:spPr>
          <a:xfrm>
            <a:off x="0" y="133100"/>
            <a:ext cx="9144000" cy="742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Caesar Cipher</a:t>
            </a:r>
            <a:endParaRPr/>
          </a:p>
        </p:txBody>
      </p:sp>
      <p:sp>
        <p:nvSpPr>
          <p:cNvPr id="220" name="Google Shape;220;gec9953bcda_0_15"/>
          <p:cNvSpPr txBox="1">
            <a:spLocks noGrp="1"/>
          </p:cNvSpPr>
          <p:nvPr>
            <p:ph type="body" idx="1"/>
          </p:nvPr>
        </p:nvSpPr>
        <p:spPr>
          <a:xfrm>
            <a:off x="353100" y="1085325"/>
            <a:ext cx="8437800" cy="362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1950" algn="l" rtl="0">
              <a:spcBef>
                <a:spcPts val="480"/>
              </a:spcBef>
              <a:spcAft>
                <a:spcPts val="0"/>
              </a:spcAft>
              <a:buSzPts val="2100"/>
              <a:buChar char="•"/>
            </a:pPr>
            <a:r>
              <a:rPr lang="en-US" sz="2100" b="1"/>
              <a:t>Example: </a:t>
            </a:r>
            <a:r>
              <a:rPr lang="en-US" sz="2100"/>
              <a:t>replace each letter by 3rd letter on</a:t>
            </a:r>
            <a:endParaRPr sz="2100"/>
          </a:p>
          <a:p>
            <a:pPr marL="1828800" lvl="3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f (a) = (a+3) mod 26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•"/>
            </a:pPr>
            <a:r>
              <a:rPr lang="en-US" sz="2000" b="1">
                <a:latin typeface="Roboto"/>
                <a:ea typeface="Roboto"/>
                <a:cs typeface="Roboto"/>
                <a:sym typeface="Roboto"/>
              </a:rPr>
              <a:t>can define transformation as:</a:t>
            </a:r>
            <a:endParaRPr sz="2000" b="1">
              <a:latin typeface="Roboto"/>
              <a:ea typeface="Roboto"/>
              <a:cs typeface="Roboto"/>
              <a:sym typeface="Roboto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•"/>
            </a:pPr>
            <a:r>
              <a:rPr lang="en-US" sz="1700" b="1">
                <a:latin typeface="Roboto"/>
                <a:ea typeface="Roboto"/>
                <a:cs typeface="Roboto"/>
                <a:sym typeface="Roboto"/>
              </a:rPr>
              <a:t>a b c d e f g h i j k l m n o p q r s t u v w x y z</a:t>
            </a:r>
            <a:endParaRPr sz="1700" b="1">
              <a:latin typeface="Roboto"/>
              <a:ea typeface="Roboto"/>
              <a:cs typeface="Roboto"/>
              <a:sym typeface="Robo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•"/>
            </a:pPr>
            <a:r>
              <a:rPr lang="en-US" sz="1400" b="1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D E F G H I J K L M N O P Q R S T U V W X Y Z A B C</a:t>
            </a:r>
            <a:endParaRPr sz="1400" b="1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Roboto"/>
              <a:buChar char="•"/>
            </a:pPr>
            <a:r>
              <a:rPr lang="en-US" sz="2000" b="1">
                <a:latin typeface="Roboto"/>
                <a:ea typeface="Roboto"/>
                <a:cs typeface="Roboto"/>
                <a:sym typeface="Roboto"/>
              </a:rPr>
              <a:t>mathematically give each letter a number</a:t>
            </a:r>
            <a:endParaRPr sz="2000" b="1">
              <a:latin typeface="Roboto"/>
              <a:ea typeface="Roboto"/>
              <a:cs typeface="Roboto"/>
              <a:sym typeface="Robo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•"/>
            </a:pPr>
            <a:r>
              <a:rPr lang="en-US" sz="2000" b="1">
                <a:latin typeface="Roboto"/>
                <a:ea typeface="Roboto"/>
                <a:cs typeface="Roboto"/>
                <a:sym typeface="Roboto"/>
              </a:rPr>
              <a:t>a b c d e f g h i j  k  l  m  n  o  p  q  r  s  t  u  v  w  x  y  z</a:t>
            </a:r>
            <a:endParaRPr sz="2000" b="1">
              <a:latin typeface="Roboto"/>
              <a:ea typeface="Roboto"/>
              <a:cs typeface="Roboto"/>
              <a:sym typeface="Roboto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</a:pPr>
            <a:r>
              <a:rPr lang="en-US" sz="15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0 1 2 3 4 5 6 7 8 9 10 11 12 13 14 15 16 17 18 19 20 21 22 23 24 25</a:t>
            </a:r>
            <a:endParaRPr sz="1900" b="1">
              <a:latin typeface="Roboto"/>
              <a:ea typeface="Roboto"/>
              <a:cs typeface="Roboto"/>
              <a:sym typeface="Roboto"/>
            </a:endParaRPr>
          </a:p>
          <a:p>
            <a:pPr marL="457200" lvl="0" indent="-349250" algn="l" rtl="0">
              <a:spcBef>
                <a:spcPts val="1000"/>
              </a:spcBef>
              <a:spcAft>
                <a:spcPts val="0"/>
              </a:spcAft>
              <a:buSzPts val="1900"/>
              <a:buFont typeface="Roboto"/>
              <a:buChar char="•"/>
            </a:pPr>
            <a:r>
              <a:rPr lang="en-US" sz="1900" b="1">
                <a:latin typeface="Roboto"/>
                <a:ea typeface="Roboto"/>
                <a:cs typeface="Roboto"/>
                <a:sym typeface="Roboto"/>
              </a:rPr>
              <a:t>then have Caesar cipher as:</a:t>
            </a:r>
            <a:endParaRPr sz="1900" b="1">
              <a:latin typeface="Roboto"/>
              <a:ea typeface="Roboto"/>
              <a:cs typeface="Roboto"/>
              <a:sym typeface="Roboto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</a:pPr>
            <a:r>
              <a:rPr lang="en-US" sz="1900">
                <a:latin typeface="Roboto"/>
                <a:ea typeface="Roboto"/>
                <a:cs typeface="Roboto"/>
                <a:sym typeface="Roboto"/>
              </a:rPr>
              <a:t>cipher text, c = Encryption(p) = (p + k) mod (26)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marL="914400" lvl="1" indent="-3302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</a:pPr>
            <a:r>
              <a:rPr lang="en-US" sz="1900">
                <a:latin typeface="Roboto"/>
                <a:ea typeface="Roboto"/>
                <a:cs typeface="Roboto"/>
                <a:sym typeface="Roboto"/>
              </a:rPr>
              <a:t>plain text, p   = Decryption(c) = (c – k) mod (26)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 b="1">
                <a:latin typeface="Roboto"/>
                <a:ea typeface="Roboto"/>
                <a:cs typeface="Roboto"/>
                <a:sym typeface="Roboto"/>
              </a:rPr>
              <a:t>Example:</a:t>
            </a:r>
            <a:r>
              <a:rPr lang="en-US" sz="1900">
                <a:latin typeface="Roboto"/>
                <a:ea typeface="Roboto"/>
                <a:cs typeface="Roboto"/>
                <a:sym typeface="Roboto"/>
              </a:rPr>
              <a:t> Apply caesar cipher with k = 2 in the plain text “HELLO”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8"/>
          <p:cNvSpPr txBox="1">
            <a:spLocks noGrp="1"/>
          </p:cNvSpPr>
          <p:nvPr>
            <p:ph type="title"/>
          </p:nvPr>
        </p:nvSpPr>
        <p:spPr>
          <a:xfrm>
            <a:off x="0" y="117425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Monoalphabetic Cipher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48"/>
          <p:cNvSpPr txBox="1">
            <a:spLocks noGrp="1"/>
          </p:cNvSpPr>
          <p:nvPr>
            <p:ph type="body" idx="1"/>
          </p:nvPr>
        </p:nvSpPr>
        <p:spPr>
          <a:xfrm>
            <a:off x="229425" y="1028700"/>
            <a:ext cx="8829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60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Roboto"/>
              <a:buChar char="•"/>
            </a:pP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rather than just shifting the alphabet 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603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Roboto"/>
              <a:buChar char="•"/>
            </a:pPr>
            <a:r>
              <a:rPr lang="en-US" sz="2200" i="0" u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could shuffle (jumble) the letters arbitrarily 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603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Roboto"/>
              <a:buChar char="•"/>
            </a:pP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each </a:t>
            </a:r>
            <a:r>
              <a:rPr lang="en-US" sz="22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plaintext letter maps to a different random </a:t>
            </a: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ciphertext letter 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603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Roboto"/>
              <a:buChar char="•"/>
            </a:pP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hence key is 26 letters long 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marL="593725" lvl="1" indent="-2730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12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593725" lvl="1" indent="-2730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Plain:  abcdefghijklmnopqrstuvwxyz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593725" lvl="1" indent="-2730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Cipher: DKVQFIBJWPESCXHTMYAUOLRGZN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28600" algn="l" rtl="0">
              <a:spcBef>
                <a:spcPts val="1000"/>
              </a:spcBef>
              <a:spcAft>
                <a:spcPts val="0"/>
              </a:spcAft>
              <a:buSzPts val="1700"/>
              <a:buFont typeface="Roboto"/>
              <a:buChar char="•"/>
            </a:pPr>
            <a:r>
              <a:rPr lang="en-US" sz="1700">
                <a:latin typeface="Roboto"/>
                <a:ea typeface="Roboto"/>
                <a:cs typeface="Roboto"/>
                <a:sym typeface="Roboto"/>
              </a:rPr>
              <a:t>only have 26 possible ciphers. A maps to A,B,..Z 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28600" algn="l" rtl="0">
              <a:spcBef>
                <a:spcPts val="480"/>
              </a:spcBef>
              <a:spcAft>
                <a:spcPts val="0"/>
              </a:spcAft>
              <a:buSzPts val="1700"/>
              <a:buFont typeface="Roboto"/>
              <a:buChar char="•"/>
            </a:pPr>
            <a:r>
              <a:rPr lang="en-US" sz="1700">
                <a:latin typeface="Roboto"/>
                <a:ea typeface="Roboto"/>
                <a:cs typeface="Roboto"/>
                <a:sym typeface="Roboto"/>
              </a:rPr>
              <a:t>could simply try each in turn 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28600" algn="l" rtl="0">
              <a:spcBef>
                <a:spcPts val="480"/>
              </a:spcBef>
              <a:spcAft>
                <a:spcPts val="0"/>
              </a:spcAft>
              <a:buSzPts val="1700"/>
              <a:buChar char="•"/>
            </a:pPr>
            <a:r>
              <a:rPr lang="en-US" sz="1700"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-US" sz="17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brute force search</a:t>
            </a:r>
            <a:r>
              <a:rPr lang="en-US" sz="1700">
                <a:latin typeface="Roboto"/>
                <a:ea typeface="Roboto"/>
                <a:cs typeface="Roboto"/>
                <a:sym typeface="Roboto"/>
              </a:rPr>
              <a:t> 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28600" algn="l" rtl="0">
              <a:spcBef>
                <a:spcPts val="480"/>
              </a:spcBef>
              <a:spcAft>
                <a:spcPts val="0"/>
              </a:spcAft>
              <a:buSzPts val="1700"/>
              <a:buFont typeface="Roboto"/>
              <a:buChar char="•"/>
            </a:pPr>
            <a:r>
              <a:rPr lang="en-US" sz="1700">
                <a:latin typeface="Roboto"/>
                <a:ea typeface="Roboto"/>
                <a:cs typeface="Roboto"/>
                <a:sym typeface="Roboto"/>
              </a:rPr>
              <a:t>given ciphertext, just try all shifts of letters </a:t>
            </a:r>
            <a:r>
              <a:rPr lang="en-US" sz="17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(1 to 25)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28600" algn="l" rtl="0">
              <a:spcBef>
                <a:spcPts val="480"/>
              </a:spcBef>
              <a:spcAft>
                <a:spcPts val="0"/>
              </a:spcAft>
              <a:buSzPts val="1700"/>
              <a:buFont typeface="Roboto"/>
              <a:buChar char="•"/>
            </a:pPr>
            <a:r>
              <a:rPr lang="en-US" sz="1700">
                <a:latin typeface="Roboto"/>
                <a:ea typeface="Roboto"/>
                <a:cs typeface="Roboto"/>
                <a:sym typeface="Roboto"/>
              </a:rPr>
              <a:t>do need to recognize when have plaintext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ec9953bcda_0_29"/>
          <p:cNvSpPr txBox="1">
            <a:spLocks noGrp="1"/>
          </p:cNvSpPr>
          <p:nvPr>
            <p:ph type="title"/>
          </p:nvPr>
        </p:nvSpPr>
        <p:spPr>
          <a:xfrm>
            <a:off x="505325" y="144875"/>
            <a:ext cx="8567100" cy="686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Rail Fence Cipher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gec9953bcda_0_29"/>
          <p:cNvSpPr txBox="1">
            <a:spLocks noGrp="1"/>
          </p:cNvSpPr>
          <p:nvPr>
            <p:ph type="body" idx="1"/>
          </p:nvPr>
        </p:nvSpPr>
        <p:spPr>
          <a:xfrm>
            <a:off x="458850" y="1206325"/>
            <a:ext cx="8348100" cy="3604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619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•"/>
            </a:pPr>
            <a:r>
              <a:rPr lang="en-US" sz="2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 rearranges the order of plain text.</a:t>
            </a:r>
            <a:endParaRPr sz="2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•"/>
            </a:pPr>
            <a:r>
              <a:rPr lang="en-US" sz="2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 = number of rails</a:t>
            </a:r>
            <a:endParaRPr sz="2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500" b="1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•"/>
            </a:pPr>
            <a:r>
              <a:rPr lang="en-US" sz="2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Example: Apply Rail Fence Cipher with n = 2 in the plain text “Welcome to the class”</a:t>
            </a:r>
            <a:endParaRPr sz="2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•"/>
            </a:pPr>
            <a:r>
              <a:rPr lang="en-US" sz="2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 l o e o h c a s</a:t>
            </a:r>
            <a:endParaRPr sz="2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365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Char char="•"/>
            </a:pPr>
            <a:r>
              <a:rPr lang="en-US" sz="16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   c m t   t   e   l   s</a:t>
            </a: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</a:pPr>
            <a:r>
              <a:rPr lang="en-US" sz="2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Cipher Text: wloeohcasecmttels</a:t>
            </a:r>
            <a:endParaRPr sz="16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0"/>
          <p:cNvSpPr txBox="1">
            <a:spLocks noGrp="1"/>
          </p:cNvSpPr>
          <p:nvPr>
            <p:ph type="title"/>
          </p:nvPr>
        </p:nvSpPr>
        <p:spPr>
          <a:xfrm>
            <a:off x="0" y="9395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Example Cryptanalysis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50"/>
          <p:cNvSpPr txBox="1">
            <a:spLocks noGrp="1"/>
          </p:cNvSpPr>
          <p:nvPr>
            <p:ph type="body" idx="1"/>
          </p:nvPr>
        </p:nvSpPr>
        <p:spPr>
          <a:xfrm>
            <a:off x="352175" y="1028700"/>
            <a:ext cx="8029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22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Roboto"/>
              <a:buChar char="•"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given ciphertext: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593725" lvl="1" indent="-273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UZQSOVUOHXMOPVGPOZPEVSGZWSZOPFPESXUDBMETSXAIZ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593725" lvl="1" indent="-2730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VUEPHZHMDZSHZOWSFPAPPDTSVPQUZWYMXUZUHSX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593725" lvl="1" indent="-2730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EPYEPOPDZSZUFPOMBZWPFUPZHMDJUDTMOHMQ</a:t>
            </a:r>
            <a:endParaRPr sz="2000" i="0" u="non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3050" lvl="0" indent="-222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Roboto"/>
              <a:buChar char="•"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count relative letter frequencies 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22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Roboto"/>
              <a:buChar char="•"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guess </a:t>
            </a: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 &amp; Z 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are </a:t>
            </a: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22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Roboto"/>
              <a:buChar char="•"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guess </a:t>
            </a: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ZW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th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hence </a:t>
            </a: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ZWP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the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22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Roboto"/>
              <a:buChar char="•"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proceeding with trial and error finally get: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593725" lvl="1" indent="-273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it was disclosed yesterday that several informal but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593725" lvl="1" indent="-2730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direct contacts have been made with political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593725" lvl="1" indent="-273050" algn="l" rtl="0">
              <a:lnSpc>
                <a:spcPct val="90000"/>
              </a:lnSpc>
              <a:spcBef>
                <a:spcPts val="360"/>
              </a:spcBef>
              <a:spcAft>
                <a:spcPts val="1000"/>
              </a:spcAft>
              <a:buSzPts val="1800"/>
              <a:buNone/>
            </a:pP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representatives of the viet cong in moscow</a:t>
            </a:r>
            <a:endParaRPr sz="2000" i="0" u="non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1"/>
          <p:cNvSpPr txBox="1">
            <a:spLocks noGrp="1"/>
          </p:cNvSpPr>
          <p:nvPr>
            <p:ph type="title"/>
          </p:nvPr>
        </p:nvSpPr>
        <p:spPr>
          <a:xfrm>
            <a:off x="0" y="2068350"/>
            <a:ext cx="9144000" cy="10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60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6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NewsPrint">
  <a:themeElements>
    <a:clrScheme name="NewsPrint">
      <a:dk1>
        <a:srgbClr val="000000"/>
      </a:dk1>
      <a:lt1>
        <a:srgbClr val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1904</Words>
  <Application>Microsoft Office PowerPoint</Application>
  <PresentationFormat>On-screen Show (16:9)</PresentationFormat>
  <Paragraphs>258</Paragraphs>
  <Slides>27</Slides>
  <Notes>27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Noto Sans Symbols</vt:lpstr>
      <vt:lpstr>Roboto</vt:lpstr>
      <vt:lpstr>Times</vt:lpstr>
      <vt:lpstr>Impact</vt:lpstr>
      <vt:lpstr>Arial</vt:lpstr>
      <vt:lpstr>Wingdings</vt:lpstr>
      <vt:lpstr>Times New Roman</vt:lpstr>
      <vt:lpstr>1_NewsPrint</vt:lpstr>
      <vt:lpstr>Importance of Number Theory</vt:lpstr>
      <vt:lpstr>Divisors</vt:lpstr>
      <vt:lpstr>Divisors Examples</vt:lpstr>
      <vt:lpstr>Multiples up to given n</vt:lpstr>
      <vt:lpstr>Divisor Theorem</vt:lpstr>
      <vt:lpstr>Prime Numbers</vt:lpstr>
      <vt:lpstr>Fundamental Theorem of Arithmetic </vt:lpstr>
      <vt:lpstr>Fundamental Theorem of Arithmetic </vt:lpstr>
      <vt:lpstr>Primality Testing</vt:lpstr>
      <vt:lpstr>Primality Testing</vt:lpstr>
      <vt:lpstr>Primality Testing</vt:lpstr>
      <vt:lpstr>Primality Testing</vt:lpstr>
      <vt:lpstr>Division</vt:lpstr>
      <vt:lpstr>GCD and Relatively Prime</vt:lpstr>
      <vt:lpstr>GCD and Relatively Prime</vt:lpstr>
      <vt:lpstr>Least Common Multiple</vt:lpstr>
      <vt:lpstr>Modular Arithmetic</vt:lpstr>
      <vt:lpstr>mod function</vt:lpstr>
      <vt:lpstr>(mod) congruence Formal Definition</vt:lpstr>
      <vt:lpstr>Modular arithmetic harder examples</vt:lpstr>
      <vt:lpstr>Modular arithmetic harder examples</vt:lpstr>
      <vt:lpstr>Simple Encryption</vt:lpstr>
      <vt:lpstr>Caesar Cipher</vt:lpstr>
      <vt:lpstr>Monoalphabetic Cipher</vt:lpstr>
      <vt:lpstr>Rail Fence Cipher</vt:lpstr>
      <vt:lpstr>Example Cryptanalysis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Importance of Number Theory</dc:title>
  <dc:creator>Roger Pressman</dc:creator>
  <cp:lastModifiedBy>Acer</cp:lastModifiedBy>
  <cp:revision>7</cp:revision>
  <dcterms:created xsi:type="dcterms:W3CDTF">2011-04-14T19:19:04Z</dcterms:created>
  <dcterms:modified xsi:type="dcterms:W3CDTF">2022-08-28T13:55:55Z</dcterms:modified>
</cp:coreProperties>
</file>